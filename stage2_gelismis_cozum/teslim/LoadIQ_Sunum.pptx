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447"/>
        </a:solidFill>
      </p:bgPr>
    </p:bg>
    <p:spTree>
      <p:nvGrpSpPr>
        <p:cNvPr id="1" name=""/>
        <p:cNvGrpSpPr/>
        <p:nvPr/>
      </p:nvGrpSpPr>
      <p:grpSpPr>
        <a:xfrm>
          <a:off x="0" y="0"/>
          <a:ext cx="0" cy="0"/>
          <a:chOff x="0" y="0"/>
          <a:chExt cx="0" cy="0"/>
        </a:xfrm>
      </p:grpSpPr>
      <p:sp>
        <p:nvSpPr>
          <p:cNvPr id="2" name="Shape 0"/>
          <p:cNvSpPr/>
          <p:nvPr/>
        </p:nvSpPr>
        <p:spPr>
          <a:xfrm>
            <a:off x="9509760" y="-1463040"/>
            <a:ext cx="4114800" cy="4114800"/>
          </a:xfrm>
          <a:prstGeom prst="ellipse">
            <a:avLst/>
          </a:prstGeom>
          <a:solidFill>
            <a:srgbClr val="132F52"/>
          </a:solidFill>
          <a:ln/>
        </p:spPr>
      </p:sp>
      <p:sp>
        <p:nvSpPr>
          <p:cNvPr id="3" name="Shape 1"/>
          <p:cNvSpPr/>
          <p:nvPr/>
        </p:nvSpPr>
        <p:spPr>
          <a:xfrm>
            <a:off x="10607040" y="4297680"/>
            <a:ext cx="3291840" cy="3291840"/>
          </a:xfrm>
          <a:prstGeom prst="ellipse">
            <a:avLst/>
          </a:prstGeom>
          <a:solidFill>
            <a:srgbClr val="132F52"/>
          </a:solidFill>
          <a:ln/>
        </p:spPr>
      </p:sp>
      <p:sp>
        <p:nvSpPr>
          <p:cNvPr id="4" name="Text 2"/>
          <p:cNvSpPr/>
          <p:nvPr/>
        </p:nvSpPr>
        <p:spPr>
          <a:xfrm>
            <a:off x="822960" y="1920240"/>
            <a:ext cx="8229600" cy="1188720"/>
          </a:xfrm>
          <a:prstGeom prst="rect">
            <a:avLst/>
          </a:prstGeom>
          <a:noFill/>
          <a:ln/>
        </p:spPr>
        <p:txBody>
          <a:bodyPr wrap="square"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LoadIQ</a:t>
            </a:r>
            <a:endParaRPr lang="en-US" sz="6600" dirty="0"/>
          </a:p>
        </p:txBody>
      </p:sp>
      <p:sp>
        <p:nvSpPr>
          <p:cNvPr id="5" name="Text 3"/>
          <p:cNvSpPr/>
          <p:nvPr/>
        </p:nvSpPr>
        <p:spPr>
          <a:xfrm>
            <a:off x="868680" y="3063240"/>
            <a:ext cx="9601200" cy="548640"/>
          </a:xfrm>
          <a:prstGeom prst="rect">
            <a:avLst/>
          </a:prstGeom>
          <a:noFill/>
          <a:ln/>
        </p:spPr>
        <p:txBody>
          <a:bodyPr wrap="square" rtlCol="0" anchor="ctr"/>
          <a:lstStyle/>
          <a:p>
            <a:pPr indent="0" marL="0">
              <a:buNone/>
            </a:pPr>
            <a:r>
              <a:rPr lang="en-US" sz="2200" dirty="0">
                <a:solidFill>
                  <a:srgbClr val="A5D7E8"/>
                </a:solidFill>
                <a:latin typeface="Calibri" pitchFamily="34" charset="0"/>
                <a:ea typeface="Calibri" pitchFamily="34" charset="-122"/>
                <a:cs typeface="Calibri" pitchFamily="34" charset="-120"/>
              </a:rPr>
              <a:t>Yapay Zeka Destekli Lojistik Anahat Optimizasyonu</a:t>
            </a:r>
            <a:endParaRPr lang="en-US" sz="2200" dirty="0"/>
          </a:p>
        </p:txBody>
      </p:sp>
      <p:sp>
        <p:nvSpPr>
          <p:cNvPr id="6" name="Shape 4"/>
          <p:cNvSpPr/>
          <p:nvPr/>
        </p:nvSpPr>
        <p:spPr>
          <a:xfrm>
            <a:off x="868680" y="3886200"/>
            <a:ext cx="2788920" cy="566928"/>
          </a:xfrm>
          <a:prstGeom prst="roundRect">
            <a:avLst>
              <a:gd name="adj" fmla="val 16129"/>
            </a:avLst>
          </a:prstGeom>
          <a:solidFill>
            <a:srgbClr val="1BA6A0"/>
          </a:solidFill>
          <a:ln/>
        </p:spPr>
      </p:sp>
      <p:sp>
        <p:nvSpPr>
          <p:cNvPr id="7" name="Text 5"/>
          <p:cNvSpPr/>
          <p:nvPr/>
        </p:nvSpPr>
        <p:spPr>
          <a:xfrm>
            <a:off x="868680" y="3886200"/>
            <a:ext cx="2788920" cy="566928"/>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TEKNOFEST 2026</a:t>
            </a:r>
            <a:endParaRPr lang="en-US" sz="1500" dirty="0"/>
          </a:p>
        </p:txBody>
      </p:sp>
      <p:sp>
        <p:nvSpPr>
          <p:cNvPr id="8" name="Text 6"/>
          <p:cNvSpPr/>
          <p:nvPr/>
        </p:nvSpPr>
        <p:spPr>
          <a:xfrm>
            <a:off x="3840480" y="3886200"/>
            <a:ext cx="6400800" cy="566928"/>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Hepsiburada · Gelişmiş Çözüm Aşaması</a:t>
            </a:r>
            <a:endParaRPr lang="en-US" sz="1500" dirty="0"/>
          </a:p>
        </p:txBody>
      </p:sp>
      <p:sp>
        <p:nvSpPr>
          <p:cNvPr id="9" name="Text 7"/>
          <p:cNvSpPr/>
          <p:nvPr/>
        </p:nvSpPr>
        <p:spPr>
          <a:xfrm>
            <a:off x="868680" y="5074920"/>
            <a:ext cx="5486400" cy="457200"/>
          </a:xfrm>
          <a:prstGeom prst="rect">
            <a:avLst/>
          </a:prstGeom>
          <a:noFill/>
          <a:ln/>
        </p:spPr>
        <p:txBody>
          <a:bodyPr wrap="square" rtlCol="0" anchor="ctr"/>
          <a:lstStyle/>
          <a:p>
            <a:pPr indent="0" marL="0">
              <a:buNone/>
            </a:pPr>
            <a:r>
              <a:rPr lang="en-US" sz="1800" b="1" dirty="0">
                <a:solidFill>
                  <a:srgbClr val="E9B949"/>
                </a:solidFill>
                <a:latin typeface="Calibri" pitchFamily="34" charset="0"/>
                <a:ea typeface="Calibri" pitchFamily="34" charset="-122"/>
                <a:cs typeface="Calibri" pitchFamily="34" charset="-120"/>
              </a:rPr>
              <a:t>Takım NASİP</a:t>
            </a:r>
            <a:endParaRPr lang="en-US" sz="1800" dirty="0"/>
          </a:p>
        </p:txBody>
      </p:sp>
      <p:sp>
        <p:nvSpPr>
          <p:cNvPr id="10" name="Text 8"/>
          <p:cNvSpPr/>
          <p:nvPr/>
        </p:nvSpPr>
        <p:spPr>
          <a:xfrm>
            <a:off x="886968" y="5532120"/>
            <a:ext cx="7315200" cy="365760"/>
          </a:xfrm>
          <a:prstGeom prst="rect">
            <a:avLst/>
          </a:prstGeom>
          <a:noFill/>
          <a:ln/>
        </p:spPr>
        <p:txBody>
          <a:bodyPr wrap="square" rtlCol="0" anchor="ctr"/>
          <a:lstStyle/>
          <a:p>
            <a:pPr indent="0" marL="0">
              <a:buNone/>
            </a:pPr>
            <a:r>
              <a:rPr lang="en-US" sz="1300" i="1" dirty="0">
                <a:solidFill>
                  <a:srgbClr val="A5D7E8"/>
                </a:solidFill>
                <a:latin typeface="Calibri" pitchFamily="34" charset="0"/>
                <a:ea typeface="Calibri" pitchFamily="34" charset="-122"/>
                <a:cs typeface="Calibri" pitchFamily="34" charset="-120"/>
              </a:rPr>
              <a:t>Yarı finalden final yolunda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Problem Tanımı</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18 transfer merkezi arasında, minimum maliyetle, kurallara uygun taşıma</a:t>
            </a:r>
            <a:endParaRPr lang="en-US" sz="1500" dirty="0"/>
          </a:p>
        </p:txBody>
      </p:sp>
      <p:sp>
        <p:nvSpPr>
          <p:cNvPr id="4" name="Shape 2"/>
          <p:cNvSpPr/>
          <p:nvPr/>
        </p:nvSpPr>
        <p:spPr>
          <a:xfrm>
            <a:off x="548640" y="1737360"/>
            <a:ext cx="5120640" cy="932688"/>
          </a:xfrm>
          <a:prstGeom prst="roundRect">
            <a:avLst>
              <a:gd name="adj" fmla="val 7843"/>
            </a:avLst>
          </a:prstGeom>
          <a:solidFill>
            <a:srgbClr val="F4F7FA"/>
          </a:solidFill>
          <a:ln/>
        </p:spPr>
      </p:sp>
      <p:sp>
        <p:nvSpPr>
          <p:cNvPr id="5" name="Text 3"/>
          <p:cNvSpPr/>
          <p:nvPr/>
        </p:nvSpPr>
        <p:spPr>
          <a:xfrm>
            <a:off x="731520" y="1737360"/>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18</a:t>
            </a:r>
            <a:endParaRPr lang="en-US" sz="3000" dirty="0"/>
          </a:p>
        </p:txBody>
      </p:sp>
      <p:sp>
        <p:nvSpPr>
          <p:cNvPr id="6" name="Text 4"/>
          <p:cNvSpPr/>
          <p:nvPr/>
        </p:nvSpPr>
        <p:spPr>
          <a:xfrm>
            <a:off x="2468880" y="1737360"/>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Transfer merkezi</a:t>
            </a:r>
            <a:endParaRPr lang="en-US" sz="1500" dirty="0"/>
          </a:p>
        </p:txBody>
      </p:sp>
      <p:sp>
        <p:nvSpPr>
          <p:cNvPr id="7" name="Shape 5"/>
          <p:cNvSpPr/>
          <p:nvPr/>
        </p:nvSpPr>
        <p:spPr>
          <a:xfrm>
            <a:off x="548640" y="2798064"/>
            <a:ext cx="5120640" cy="932688"/>
          </a:xfrm>
          <a:prstGeom prst="roundRect">
            <a:avLst>
              <a:gd name="adj" fmla="val 7843"/>
            </a:avLst>
          </a:prstGeom>
          <a:solidFill>
            <a:srgbClr val="F4F7FA"/>
          </a:solidFill>
          <a:ln/>
        </p:spPr>
      </p:sp>
      <p:sp>
        <p:nvSpPr>
          <p:cNvPr id="8" name="Text 6"/>
          <p:cNvSpPr/>
          <p:nvPr/>
        </p:nvSpPr>
        <p:spPr>
          <a:xfrm>
            <a:off x="731520" y="2798064"/>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289</a:t>
            </a:r>
            <a:endParaRPr lang="en-US" sz="3000" dirty="0"/>
          </a:p>
        </p:txBody>
      </p:sp>
      <p:sp>
        <p:nvSpPr>
          <p:cNvPr id="9" name="Text 7"/>
          <p:cNvSpPr/>
          <p:nvPr/>
        </p:nvSpPr>
        <p:spPr>
          <a:xfrm>
            <a:off x="2468880" y="2798064"/>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Aktif güzergah</a:t>
            </a:r>
            <a:endParaRPr lang="en-US" sz="1500" dirty="0"/>
          </a:p>
        </p:txBody>
      </p:sp>
      <p:sp>
        <p:nvSpPr>
          <p:cNvPr id="10" name="Shape 8"/>
          <p:cNvSpPr/>
          <p:nvPr/>
        </p:nvSpPr>
        <p:spPr>
          <a:xfrm>
            <a:off x="548640" y="3858768"/>
            <a:ext cx="5120640" cy="932688"/>
          </a:xfrm>
          <a:prstGeom prst="roundRect">
            <a:avLst>
              <a:gd name="adj" fmla="val 7843"/>
            </a:avLst>
          </a:prstGeom>
          <a:solidFill>
            <a:srgbClr val="F4F7FA"/>
          </a:solidFill>
          <a:ln/>
        </p:spPr>
      </p:sp>
      <p:sp>
        <p:nvSpPr>
          <p:cNvPr id="11" name="Text 9"/>
          <p:cNvSpPr/>
          <p:nvPr/>
        </p:nvSpPr>
        <p:spPr>
          <a:xfrm>
            <a:off x="731520" y="3858768"/>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2</a:t>
            </a:r>
            <a:endParaRPr lang="en-US" sz="3000" dirty="0"/>
          </a:p>
        </p:txBody>
      </p:sp>
      <p:sp>
        <p:nvSpPr>
          <p:cNvPr id="12" name="Text 10"/>
          <p:cNvSpPr/>
          <p:nvPr/>
        </p:nvSpPr>
        <p:spPr>
          <a:xfrm>
            <a:off x="2468880" y="3858768"/>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Günlük saat dilimi (09:00 / 17:00)</a:t>
            </a:r>
            <a:endParaRPr lang="en-US" sz="1500" dirty="0"/>
          </a:p>
        </p:txBody>
      </p:sp>
      <p:sp>
        <p:nvSpPr>
          <p:cNvPr id="13" name="Shape 11"/>
          <p:cNvSpPr/>
          <p:nvPr/>
        </p:nvSpPr>
        <p:spPr>
          <a:xfrm>
            <a:off x="548640" y="4919472"/>
            <a:ext cx="5120640" cy="932688"/>
          </a:xfrm>
          <a:prstGeom prst="roundRect">
            <a:avLst>
              <a:gd name="adj" fmla="val 7843"/>
            </a:avLst>
          </a:prstGeom>
          <a:solidFill>
            <a:srgbClr val="F4F7FA"/>
          </a:solidFill>
          <a:ln/>
        </p:spPr>
      </p:sp>
      <p:sp>
        <p:nvSpPr>
          <p:cNvPr id="14" name="Text 12"/>
          <p:cNvSpPr/>
          <p:nvPr/>
        </p:nvSpPr>
        <p:spPr>
          <a:xfrm>
            <a:off x="731520" y="4919472"/>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Dakika</a:t>
            </a:r>
            <a:endParaRPr lang="en-US" sz="3000" dirty="0"/>
          </a:p>
        </p:txBody>
      </p:sp>
      <p:sp>
        <p:nvSpPr>
          <p:cNvPr id="15" name="Text 13"/>
          <p:cNvSpPr/>
          <p:nvPr/>
        </p:nvSpPr>
        <p:spPr>
          <a:xfrm>
            <a:off x="2468880" y="4919472"/>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Zaman çözünürlüğü</a:t>
            </a:r>
            <a:endParaRPr lang="en-US" sz="1500" dirty="0"/>
          </a:p>
        </p:txBody>
      </p:sp>
      <p:sp>
        <p:nvSpPr>
          <p:cNvPr id="16" name="Shape 14"/>
          <p:cNvSpPr/>
          <p:nvPr/>
        </p:nvSpPr>
        <p:spPr>
          <a:xfrm>
            <a:off x="6035040" y="1737360"/>
            <a:ext cx="5577840" cy="2148840"/>
          </a:xfrm>
          <a:prstGeom prst="roundRect">
            <a:avLst>
              <a:gd name="adj" fmla="val 3404"/>
            </a:avLst>
          </a:prstGeom>
          <a:solidFill>
            <a:srgbClr val="0B2447"/>
          </a:solidFill>
          <a:ln/>
        </p:spPr>
      </p:sp>
      <p:sp>
        <p:nvSpPr>
          <p:cNvPr id="17" name="Text 15"/>
          <p:cNvSpPr/>
          <p:nvPr/>
        </p:nvSpPr>
        <p:spPr>
          <a:xfrm>
            <a:off x="6309360" y="1920240"/>
            <a:ext cx="5120640" cy="457200"/>
          </a:xfrm>
          <a:prstGeom prst="rect">
            <a:avLst/>
          </a:prstGeom>
          <a:noFill/>
          <a:ln/>
        </p:spPr>
        <p:txBody>
          <a:bodyPr wrap="square" rtlCol="0" anchor="ctr"/>
          <a:lstStyle/>
          <a:p>
            <a:pPr indent="0" marL="0">
              <a:buNone/>
            </a:pPr>
            <a:r>
              <a:rPr lang="en-US" sz="1800" b="1" dirty="0">
                <a:solidFill>
                  <a:srgbClr val="A5D7E8"/>
                </a:solidFill>
                <a:latin typeface="Calibri" pitchFamily="34" charset="0"/>
                <a:ea typeface="Calibri" pitchFamily="34" charset="-122"/>
                <a:cs typeface="Calibri" pitchFamily="34" charset="-120"/>
              </a:rPr>
              <a:t>Çıktı 1 — Talep Tahmini</a:t>
            </a:r>
            <a:endParaRPr lang="en-US" sz="1800" dirty="0"/>
          </a:p>
        </p:txBody>
      </p:sp>
      <p:sp>
        <p:nvSpPr>
          <p:cNvPr id="18" name="Text 16"/>
          <p:cNvSpPr/>
          <p:nvPr/>
        </p:nvSpPr>
        <p:spPr>
          <a:xfrm>
            <a:off x="6309360" y="2423160"/>
            <a:ext cx="5029200" cy="12801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29 Haziran – 5 Temmuz penceresi için her güzergah × gün × saat diliminde beklenen desi (4.046 satır).</a:t>
            </a:r>
            <a:endParaRPr lang="en-US" sz="1400" dirty="0"/>
          </a:p>
        </p:txBody>
      </p:sp>
      <p:sp>
        <p:nvSpPr>
          <p:cNvPr id="19" name="Shape 17"/>
          <p:cNvSpPr/>
          <p:nvPr/>
        </p:nvSpPr>
        <p:spPr>
          <a:xfrm>
            <a:off x="6035040" y="4069080"/>
            <a:ext cx="5577840" cy="2148840"/>
          </a:xfrm>
          <a:prstGeom prst="roundRect">
            <a:avLst>
              <a:gd name="adj" fmla="val 3404"/>
            </a:avLst>
          </a:prstGeom>
          <a:solidFill>
            <a:srgbClr val="1BA6A0"/>
          </a:solidFill>
          <a:ln/>
        </p:spPr>
      </p:sp>
      <p:sp>
        <p:nvSpPr>
          <p:cNvPr id="20" name="Text 18"/>
          <p:cNvSpPr/>
          <p:nvPr/>
        </p:nvSpPr>
        <p:spPr>
          <a:xfrm>
            <a:off x="6309360" y="4251960"/>
            <a:ext cx="51206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Çıktı 2 — Taşıma Planı</a:t>
            </a:r>
            <a:endParaRPr lang="en-US" sz="1800" dirty="0"/>
          </a:p>
        </p:txBody>
      </p:sp>
      <p:sp>
        <p:nvSpPr>
          <p:cNvPr id="21" name="Text 19"/>
          <p:cNvSpPr/>
          <p:nvPr/>
        </p:nvSpPr>
        <p:spPr>
          <a:xfrm>
            <a:off x="6309360" y="4754880"/>
            <a:ext cx="5029200" cy="12801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Hangi araç, ne zaman, hangi rotayla? Elleçleme + tır kapasitesi + SLA cezası kısıtları altında minimum maliyet.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Sistem Mimarisi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Katmanlı, her modülü bağımsız test edilebilir bir tasarım</a:t>
            </a:r>
            <a:endParaRPr lang="en-US" sz="1500" dirty="0"/>
          </a:p>
        </p:txBody>
      </p:sp>
      <p:sp>
        <p:nvSpPr>
          <p:cNvPr id="4" name="Shape 2"/>
          <p:cNvSpPr/>
          <p:nvPr/>
        </p:nvSpPr>
        <p:spPr>
          <a:xfrm>
            <a:off x="548640" y="1920240"/>
            <a:ext cx="2606040" cy="1554480"/>
          </a:xfrm>
          <a:prstGeom prst="roundRect">
            <a:avLst>
              <a:gd name="adj" fmla="val 4706"/>
            </a:avLst>
          </a:prstGeom>
          <a:solidFill>
            <a:srgbClr val="0B2447"/>
          </a:solidFill>
          <a:ln/>
        </p:spPr>
      </p:sp>
      <p:sp>
        <p:nvSpPr>
          <p:cNvPr id="5" name="Text 3"/>
          <p:cNvSpPr/>
          <p:nvPr/>
        </p:nvSpPr>
        <p:spPr>
          <a:xfrm>
            <a:off x="68580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data_loader.py</a:t>
            </a:r>
            <a:endParaRPr lang="en-US" sz="1500" dirty="0"/>
          </a:p>
        </p:txBody>
      </p:sp>
      <p:sp>
        <p:nvSpPr>
          <p:cNvPr id="6" name="Text 4"/>
          <p:cNvSpPr/>
          <p:nvPr/>
        </p:nvSpPr>
        <p:spPr>
          <a:xfrm>
            <a:off x="68580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8 resmi Excel'i okur + doğrular</a:t>
            </a:r>
            <a:endParaRPr lang="en-US" sz="1200" dirty="0"/>
          </a:p>
        </p:txBody>
      </p:sp>
      <p:sp>
        <p:nvSpPr>
          <p:cNvPr id="7" name="Text 5"/>
          <p:cNvSpPr/>
          <p:nvPr/>
        </p:nvSpPr>
        <p:spPr>
          <a:xfrm>
            <a:off x="315468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474720" y="1920240"/>
            <a:ext cx="2606040" cy="1554480"/>
          </a:xfrm>
          <a:prstGeom prst="roundRect">
            <a:avLst>
              <a:gd name="adj" fmla="val 4706"/>
            </a:avLst>
          </a:prstGeom>
          <a:solidFill>
            <a:srgbClr val="0B2447"/>
          </a:solidFill>
          <a:ln/>
        </p:spPr>
      </p:sp>
      <p:sp>
        <p:nvSpPr>
          <p:cNvPr id="9" name="Text 7"/>
          <p:cNvSpPr/>
          <p:nvPr/>
        </p:nvSpPr>
        <p:spPr>
          <a:xfrm>
            <a:off x="361188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forecast.py</a:t>
            </a:r>
            <a:endParaRPr lang="en-US" sz="1500" dirty="0"/>
          </a:p>
        </p:txBody>
      </p:sp>
      <p:sp>
        <p:nvSpPr>
          <p:cNvPr id="10" name="Text 8"/>
          <p:cNvSpPr/>
          <p:nvPr/>
        </p:nvSpPr>
        <p:spPr>
          <a:xfrm>
            <a:off x="361188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Talep tahmini — P×E modeli</a:t>
            </a:r>
            <a:endParaRPr lang="en-US" sz="1200" dirty="0"/>
          </a:p>
        </p:txBody>
      </p:sp>
      <p:sp>
        <p:nvSpPr>
          <p:cNvPr id="11" name="Text 9"/>
          <p:cNvSpPr/>
          <p:nvPr/>
        </p:nvSpPr>
        <p:spPr>
          <a:xfrm>
            <a:off x="608076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400800" y="1920240"/>
            <a:ext cx="2606040" cy="1554480"/>
          </a:xfrm>
          <a:prstGeom prst="roundRect">
            <a:avLst>
              <a:gd name="adj" fmla="val 4706"/>
            </a:avLst>
          </a:prstGeom>
          <a:solidFill>
            <a:srgbClr val="1BA6A0"/>
          </a:solidFill>
          <a:ln/>
        </p:spPr>
      </p:sp>
      <p:sp>
        <p:nvSpPr>
          <p:cNvPr id="13" name="Text 11"/>
          <p:cNvSpPr/>
          <p:nvPr/>
        </p:nvSpPr>
        <p:spPr>
          <a:xfrm>
            <a:off x="653796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optimize.py</a:t>
            </a:r>
            <a:endParaRPr lang="en-US" sz="1500" dirty="0"/>
          </a:p>
        </p:txBody>
      </p:sp>
      <p:sp>
        <p:nvSpPr>
          <p:cNvPr id="14" name="Text 12"/>
          <p:cNvSpPr/>
          <p:nvPr/>
        </p:nvSpPr>
        <p:spPr>
          <a:xfrm>
            <a:off x="653796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Taşıma planı motoru</a:t>
            </a:r>
            <a:endParaRPr lang="en-US" sz="1200" dirty="0"/>
          </a:p>
        </p:txBody>
      </p:sp>
      <p:sp>
        <p:nvSpPr>
          <p:cNvPr id="15" name="Text 13"/>
          <p:cNvSpPr/>
          <p:nvPr/>
        </p:nvSpPr>
        <p:spPr>
          <a:xfrm>
            <a:off x="900684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9326880" y="1920240"/>
            <a:ext cx="2606040" cy="1554480"/>
          </a:xfrm>
          <a:prstGeom prst="roundRect">
            <a:avLst>
              <a:gd name="adj" fmla="val 4706"/>
            </a:avLst>
          </a:prstGeom>
          <a:solidFill>
            <a:srgbClr val="0B2447"/>
          </a:solidFill>
          <a:ln/>
        </p:spPr>
      </p:sp>
      <p:sp>
        <p:nvSpPr>
          <p:cNvPr id="17" name="Text 15"/>
          <p:cNvSpPr/>
          <p:nvPr/>
        </p:nvSpPr>
        <p:spPr>
          <a:xfrm>
            <a:off x="946404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checker.py</a:t>
            </a:r>
            <a:endParaRPr lang="en-US" sz="1500" dirty="0"/>
          </a:p>
        </p:txBody>
      </p:sp>
      <p:sp>
        <p:nvSpPr>
          <p:cNvPr id="18" name="Text 16"/>
          <p:cNvSpPr/>
          <p:nvPr/>
        </p:nvSpPr>
        <p:spPr>
          <a:xfrm>
            <a:off x="946404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Bağımsız doğrulayıcı (auto-grader)</a:t>
            </a:r>
            <a:endParaRPr lang="en-US" sz="1200" dirty="0"/>
          </a:p>
        </p:txBody>
      </p:sp>
      <p:sp>
        <p:nvSpPr>
          <p:cNvPr id="19" name="Shape 17"/>
          <p:cNvSpPr/>
          <p:nvPr/>
        </p:nvSpPr>
        <p:spPr>
          <a:xfrm>
            <a:off x="548640" y="3977640"/>
            <a:ext cx="11064240" cy="2103120"/>
          </a:xfrm>
          <a:prstGeom prst="roundRect">
            <a:avLst>
              <a:gd name="adj" fmla="val 3478"/>
            </a:avLst>
          </a:prstGeom>
          <a:solidFill>
            <a:srgbClr val="F4F7FA"/>
          </a:solidFill>
          <a:ln/>
        </p:spPr>
      </p:sp>
      <p:sp>
        <p:nvSpPr>
          <p:cNvPr id="20" name="Text 18"/>
          <p:cNvSpPr/>
          <p:nvPr/>
        </p:nvSpPr>
        <p:spPr>
          <a:xfrm>
            <a:off x="822960" y="4160520"/>
            <a:ext cx="10424160" cy="457200"/>
          </a:xfrm>
          <a:prstGeom prst="rect">
            <a:avLst/>
          </a:prstGeom>
          <a:noFill/>
          <a:ln/>
        </p:spPr>
        <p:txBody>
          <a:bodyPr wrap="square" rtlCol="0" anchor="ctr"/>
          <a:lstStyle/>
          <a:p>
            <a:pPr indent="0" marL="0">
              <a:buNone/>
            </a:pPr>
            <a:r>
              <a:rPr lang="en-US" sz="1800" b="1" dirty="0">
                <a:solidFill>
                  <a:srgbClr val="0B2447"/>
                </a:solidFill>
                <a:latin typeface="Calibri" pitchFamily="34" charset="0"/>
                <a:ea typeface="Calibri" pitchFamily="34" charset="-122"/>
                <a:cs typeface="Calibri" pitchFamily="34" charset="-120"/>
              </a:rPr>
              <a:t>Neden checker.py ayrı bir modül?</a:t>
            </a:r>
            <a:endParaRPr lang="en-US" sz="1800" dirty="0"/>
          </a:p>
        </p:txBody>
      </p:sp>
      <p:sp>
        <p:nvSpPr>
          <p:cNvPr id="21" name="Text 19"/>
          <p:cNvSpPr/>
          <p:nvPr/>
        </p:nvSpPr>
        <p:spPr>
          <a:xfrm>
            <a:off x="822960" y="4617720"/>
            <a:ext cx="10515600" cy="1280160"/>
          </a:xfrm>
          <a:prstGeom prst="rect">
            <a:avLst/>
          </a:prstGeom>
          <a:noFill/>
          <a:ln/>
        </p:spPr>
        <p:txBody>
          <a:bodyPr wrap="square" rtlCol="0" anchor="ctr"/>
          <a:lstStyle/>
          <a:p>
            <a:pPr indent="0" marL="0">
              <a:buNone/>
            </a:pPr>
            <a:r>
              <a:rPr lang="en-US" sz="1450" dirty="0">
                <a:solidFill>
                  <a:srgbClr val="1B2733"/>
                </a:solidFill>
                <a:latin typeface="Calibri" pitchFamily="34" charset="0"/>
                <a:ea typeface="Calibri" pitchFamily="34" charset="-122"/>
                <a:cs typeface="Calibri" pitchFamily="34" charset="-120"/>
              </a:rPr>
              <a:t>Planı ÜRETEN kod (optimize.py) ile DENETLEYEN kod (checker.py) bilinçli olarak ayrı yazıldı. Checker, üretilen planı sıfırdan yeniden hesaplayarak kapasite, SLA ve maliyet doğruluğunu bağımsız denetler. Böylece "aynı hatayı hem üretirken hem denetlerken tekrarlama" riski ortadan kalkar — çoğu takımda olmayan bir öz-denetim mekanizması.</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Talep Tahmin Modeli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600" b="1" dirty="0">
                <a:solidFill>
                  <a:srgbClr val="1BA6A0"/>
                </a:solidFill>
                <a:latin typeface="Calibri" pitchFamily="34" charset="0"/>
                <a:ea typeface="Calibri" pitchFamily="34" charset="-122"/>
                <a:cs typeface="Calibri" pitchFamily="34" charset="-120"/>
              </a:rPr>
              <a:t>İki parçalı model:  Tahmin = P(sevkiyat) × E[desi | sevkiyat]</a:t>
            </a:r>
            <a:endParaRPr lang="en-US" sz="1600" dirty="0"/>
          </a:p>
        </p:txBody>
      </p:sp>
      <p:sp>
        <p:nvSpPr>
          <p:cNvPr id="4" name="Shape 2"/>
          <p:cNvSpPr/>
          <p:nvPr/>
        </p:nvSpPr>
        <p:spPr>
          <a:xfrm>
            <a:off x="548640" y="1783080"/>
            <a:ext cx="457200" cy="457200"/>
          </a:xfrm>
          <a:prstGeom prst="ellipse">
            <a:avLst/>
          </a:prstGeom>
          <a:solidFill>
            <a:srgbClr val="1BA6A0"/>
          </a:solidFill>
          <a:ln/>
        </p:spPr>
      </p:sp>
      <p:sp>
        <p:nvSpPr>
          <p:cNvPr id="5" name="Text 3"/>
          <p:cNvSpPr/>
          <p:nvPr/>
        </p:nvSpPr>
        <p:spPr>
          <a:xfrm>
            <a:off x="548640" y="17830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143000" y="17373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Leakage yok</a:t>
            </a:r>
            <a:endParaRPr lang="en-US" sz="1500" dirty="0"/>
          </a:p>
        </p:txBody>
      </p:sp>
      <p:sp>
        <p:nvSpPr>
          <p:cNvPr id="7" name="Text 5"/>
          <p:cNvSpPr/>
          <p:nvPr/>
        </p:nvSpPr>
        <p:spPr>
          <a:xfrm>
            <a:off x="1143000" y="20756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Sadece hedef tarihten önceki veri kullanılır — dürüst backtest</a:t>
            </a:r>
            <a:endParaRPr lang="en-US" sz="1250" dirty="0"/>
          </a:p>
        </p:txBody>
      </p:sp>
      <p:sp>
        <p:nvSpPr>
          <p:cNvPr id="8" name="Shape 6"/>
          <p:cNvSpPr/>
          <p:nvPr/>
        </p:nvSpPr>
        <p:spPr>
          <a:xfrm>
            <a:off x="548640" y="2697480"/>
            <a:ext cx="457200" cy="457200"/>
          </a:xfrm>
          <a:prstGeom prst="ellipse">
            <a:avLst/>
          </a:prstGeom>
          <a:solidFill>
            <a:srgbClr val="1BA6A0"/>
          </a:solidFill>
          <a:ln/>
        </p:spPr>
      </p:sp>
      <p:sp>
        <p:nvSpPr>
          <p:cNvPr id="9" name="Text 7"/>
          <p:cNvSpPr/>
          <p:nvPr/>
        </p:nvSpPr>
        <p:spPr>
          <a:xfrm>
            <a:off x="548640" y="26974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143000" y="26517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Tatil filtresi</a:t>
            </a:r>
            <a:endParaRPr lang="en-US" sz="1500" dirty="0"/>
          </a:p>
        </p:txBody>
      </p:sp>
      <p:sp>
        <p:nvSpPr>
          <p:cNvPr id="11" name="Text 9"/>
          <p:cNvSpPr/>
          <p:nvPr/>
        </p:nvSpPr>
        <p:spPr>
          <a:xfrm>
            <a:off x="1143000" y="29900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Kurban Bayramı gibi anomali günleri eğitimden çıkarılır</a:t>
            </a:r>
            <a:endParaRPr lang="en-US" sz="1250" dirty="0"/>
          </a:p>
        </p:txBody>
      </p:sp>
      <p:sp>
        <p:nvSpPr>
          <p:cNvPr id="12" name="Shape 10"/>
          <p:cNvSpPr/>
          <p:nvPr/>
        </p:nvSpPr>
        <p:spPr>
          <a:xfrm>
            <a:off x="548640" y="3611880"/>
            <a:ext cx="457200" cy="457200"/>
          </a:xfrm>
          <a:prstGeom prst="ellipse">
            <a:avLst/>
          </a:prstGeom>
          <a:solidFill>
            <a:srgbClr val="1BA6A0"/>
          </a:solidFill>
          <a:ln/>
        </p:spPr>
      </p:sp>
      <p:sp>
        <p:nvSpPr>
          <p:cNvPr id="13" name="Text 11"/>
          <p:cNvSpPr/>
          <p:nvPr/>
        </p:nvSpPr>
        <p:spPr>
          <a:xfrm>
            <a:off x="548640" y="36118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143000" y="35661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Saat ayrımı</a:t>
            </a:r>
            <a:endParaRPr lang="en-US" sz="1500" dirty="0"/>
          </a:p>
        </p:txBody>
      </p:sp>
      <p:sp>
        <p:nvSpPr>
          <p:cNvPr id="15" name="Text 13"/>
          <p:cNvSpPr/>
          <p:nvPr/>
        </p:nvSpPr>
        <p:spPr>
          <a:xfrm>
            <a:off x="1143000" y="39044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09:00 ve 17:00 ayrı ayrı tahmin edilir</a:t>
            </a:r>
            <a:endParaRPr lang="en-US" sz="1250" dirty="0"/>
          </a:p>
        </p:txBody>
      </p:sp>
      <p:sp>
        <p:nvSpPr>
          <p:cNvPr id="16" name="Text 14"/>
          <p:cNvSpPr/>
          <p:nvPr/>
        </p:nvSpPr>
        <p:spPr>
          <a:xfrm>
            <a:off x="6400800" y="1737360"/>
            <a:ext cx="5212080" cy="365760"/>
          </a:xfrm>
          <a:prstGeom prst="rect">
            <a:avLst/>
          </a:prstGeom>
          <a:noFill/>
          <a:ln/>
        </p:spPr>
        <p:txBody>
          <a:bodyPr wrap="square" rtlCol="0" anchor="ctr"/>
          <a:lstStyle/>
          <a:p>
            <a:pPr indent="0" marL="0">
              <a:buNone/>
            </a:pPr>
            <a:r>
              <a:rPr lang="en-US" sz="1400" b="1" dirty="0">
                <a:solidFill>
                  <a:srgbClr val="0B2447"/>
                </a:solidFill>
                <a:latin typeface="Calibri" pitchFamily="34" charset="0"/>
                <a:ea typeface="Calibri" pitchFamily="34" charset="-122"/>
                <a:cs typeface="Calibri" pitchFamily="34" charset="-120"/>
              </a:rPr>
              <a:t>Backtest (WAPE %, 3 bağımsız test haftası)</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0" y="2148840"/>
          <a:ext cx="5212080" cy="914400"/>
        </p:xfrm>
        <a:graphic>
          <a:graphicData uri="http://schemas.openxmlformats.org/drawingml/2006/table">
            <a:tbl>
              <a:tblPr/>
              <a:tblGrid>
                <a:gridCol w="822960"/>
                <a:gridCol w="1097280"/>
                <a:gridCol w="1097280"/>
                <a:gridCol w="1143000"/>
                <a:gridCol w="1051560"/>
              </a:tblGrid>
              <a:tr h="41148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1-7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8-14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15-21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Ort.</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30.25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21.94</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21.09</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24.43</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22.12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21.47</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24.45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29.19</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21.16</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21.38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23.91</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33.47</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21.93</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26.22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bl>
          </a:graphicData>
        </a:graphic>
      </p:graphicFrame>
      <p:sp>
        <p:nvSpPr>
          <p:cNvPr id="18" name="Text 15"/>
          <p:cNvSpPr/>
          <p:nvPr/>
        </p:nvSpPr>
        <p:spPr>
          <a:xfrm>
            <a:off x="6400800" y="4617720"/>
            <a:ext cx="5212080" cy="1280160"/>
          </a:xfrm>
          <a:prstGeom prst="rect">
            <a:avLst/>
          </a:prstGeom>
          <a:noFill/>
          <a:ln/>
        </p:spPr>
        <p:txBody>
          <a:bodyPr wrap="square"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P×E, bu formülasyonda cebirsel olarak akıllı ortalamaya eşittir. Modelin gücü sıfırlarda değil; aynı-haftagünü gruplama, tatil filtresi ve leakage'sız tahmindedir.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Mühendislik Kararı: n = 8</a:t>
            </a:r>
            <a:endParaRPr lang="en-US" sz="3400" dirty="0"/>
          </a:p>
        </p:txBody>
      </p:sp>
      <p:sp>
        <p:nvSpPr>
          <p:cNvPr id="3" name="Text 1"/>
          <p:cNvSpPr/>
          <p:nvPr/>
        </p:nvSpPr>
        <p:spPr>
          <a:xfrm>
            <a:off x="566928" y="1051560"/>
            <a:ext cx="1078992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"En iyi WAPE" her zaman "en iyi sonuç" değildir — ödünleşimi ölçtük</a:t>
            </a:r>
            <a:endParaRPr lang="en-US" sz="1500" dirty="0"/>
          </a:p>
        </p:txBody>
      </p:sp>
      <p:sp>
        <p:nvSpPr>
          <p:cNvPr id="4" name="Shape 2"/>
          <p:cNvSpPr/>
          <p:nvPr/>
        </p:nvSpPr>
        <p:spPr>
          <a:xfrm>
            <a:off x="548640" y="1783080"/>
            <a:ext cx="5394960" cy="3566160"/>
          </a:xfrm>
          <a:prstGeom prst="roundRect">
            <a:avLst>
              <a:gd name="adj" fmla="val 2051"/>
            </a:avLst>
          </a:prstGeom>
          <a:solidFill>
            <a:srgbClr val="1BA6A0"/>
          </a:solidFill>
          <a:ln/>
        </p:spPr>
      </p:sp>
      <p:sp>
        <p:nvSpPr>
          <p:cNvPr id="5" name="Text 3"/>
          <p:cNvSpPr/>
          <p:nvPr/>
        </p:nvSpPr>
        <p:spPr>
          <a:xfrm>
            <a:off x="777240" y="1965960"/>
            <a:ext cx="493776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n = 8   (SEÇİLEN)</a:t>
            </a:r>
            <a:endParaRPr lang="en-US" sz="2000" dirty="0"/>
          </a:p>
        </p:txBody>
      </p:sp>
      <p:sp>
        <p:nvSpPr>
          <p:cNvPr id="6" name="Text 4"/>
          <p:cNvSpPr/>
          <p:nvPr/>
        </p:nvSpPr>
        <p:spPr>
          <a:xfrm>
            <a:off x="868680" y="2560320"/>
            <a:ext cx="4846320" cy="2560320"/>
          </a:xfrm>
          <a:prstGeom prst="rect">
            <a:avLst/>
          </a:prstGeom>
          <a:noFill/>
          <a:ln/>
        </p:spPr>
        <p:txBody>
          <a:bodyPr wrap="square" rtlCol="0" anchor="t"/>
          <a:lstStyle/>
          <a:p>
            <a:pPr marL="342900" indent="-342900">
              <a:spcAft>
                <a:spcPts val="800"/>
              </a:spcAft>
              <a:buSzPct val="100000"/>
              <a:buChar char="•"/>
            </a:pPr>
            <a:r>
              <a:rPr lang="en-US" sz="1500" dirty="0">
                <a:solidFill>
                  <a:srgbClr val="FFFFFF"/>
                </a:solidFill>
              </a:rPr>
              <a:t>Tahmin WAPE:  %24,43</a:t>
            </a:r>
            <a:endParaRPr lang="en-US" sz="1500" dirty="0"/>
          </a:p>
          <a:p>
            <a:pPr marL="342900" indent="-342900">
              <a:spcAft>
                <a:spcPts val="800"/>
              </a:spcAft>
              <a:buSzPct val="100000"/>
              <a:buChar char="•"/>
            </a:pPr>
            <a:r>
              <a:rPr lang="en-US" sz="1500" dirty="0">
                <a:solidFill>
                  <a:srgbClr val="FFFFFF"/>
                </a:solidFill>
              </a:rPr>
              <a:t>Plan maliyeti:  29,84 M TL</a:t>
            </a:r>
            <a:endParaRPr lang="en-US" sz="1500" dirty="0"/>
          </a:p>
          <a:p>
            <a:pPr marL="342900" indent="-342900">
              <a:spcAft>
                <a:spcPts val="800"/>
              </a:spcAft>
              <a:buSzPct val="100000"/>
              <a:buChar char="•"/>
            </a:pPr>
            <a:r>
              <a:rPr lang="en-US" sz="1500" dirty="0">
                <a:solidFill>
                  <a:srgbClr val="FFFFFF"/>
                </a:solidFill>
              </a:rPr>
              <a:t>Maliyet / desi:  4,34 TL</a:t>
            </a:r>
            <a:endParaRPr lang="en-US" sz="1500" dirty="0"/>
          </a:p>
          <a:p>
            <a:pPr marL="342900" indent="-342900">
              <a:buSzPct val="100000"/>
              <a:buChar char="•"/>
            </a:pPr>
            <a:r>
              <a:rPr lang="en-US" sz="1500" dirty="0">
                <a:solidFill>
                  <a:srgbClr val="FFFFFF"/>
                </a:solidFill>
              </a:rPr>
              <a:t>Doğrulanmış + kararlı pipeline</a:t>
            </a:r>
            <a:endParaRPr lang="en-US" sz="1500" dirty="0"/>
          </a:p>
        </p:txBody>
      </p:sp>
      <p:sp>
        <p:nvSpPr>
          <p:cNvPr id="7" name="Shape 5"/>
          <p:cNvSpPr/>
          <p:nvPr/>
        </p:nvSpPr>
        <p:spPr>
          <a:xfrm>
            <a:off x="6217920" y="1783080"/>
            <a:ext cx="5394960" cy="3566160"/>
          </a:xfrm>
          <a:prstGeom prst="roundRect">
            <a:avLst>
              <a:gd name="adj" fmla="val 2051"/>
            </a:avLst>
          </a:prstGeom>
          <a:solidFill>
            <a:srgbClr val="F4F7FA"/>
          </a:solidFill>
          <a:ln/>
        </p:spPr>
      </p:sp>
      <p:sp>
        <p:nvSpPr>
          <p:cNvPr id="8" name="Text 6"/>
          <p:cNvSpPr/>
          <p:nvPr/>
        </p:nvSpPr>
        <p:spPr>
          <a:xfrm>
            <a:off x="6446520" y="1965960"/>
            <a:ext cx="4937760" cy="457200"/>
          </a:xfrm>
          <a:prstGeom prst="rect">
            <a:avLst/>
          </a:prstGeom>
          <a:noFill/>
          <a:ln/>
        </p:spPr>
        <p:txBody>
          <a:bodyPr wrap="square" rtlCol="0" anchor="ctr"/>
          <a:lstStyle/>
          <a:p>
            <a:pPr indent="0" marL="0">
              <a:buNone/>
            </a:pPr>
            <a:r>
              <a:rPr lang="en-US" sz="2000" b="1" dirty="0">
                <a:solidFill>
                  <a:srgbClr val="0B2447"/>
                </a:solidFill>
                <a:latin typeface="Calibri" pitchFamily="34" charset="0"/>
                <a:ea typeface="Calibri" pitchFamily="34" charset="-122"/>
                <a:cs typeface="Calibri" pitchFamily="34" charset="-120"/>
              </a:rPr>
              <a:t>n = 16   (elendi)</a:t>
            </a:r>
            <a:endParaRPr lang="en-US" sz="2000" dirty="0"/>
          </a:p>
        </p:txBody>
      </p:sp>
      <p:sp>
        <p:nvSpPr>
          <p:cNvPr id="9" name="Text 7"/>
          <p:cNvSpPr/>
          <p:nvPr/>
        </p:nvSpPr>
        <p:spPr>
          <a:xfrm>
            <a:off x="6537960" y="2560320"/>
            <a:ext cx="484632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B2733"/>
                </a:solidFill>
              </a:rPr>
              <a:t>Tahmin WAPE:  %23,91  (0,5 puan daha iyi)</a:t>
            </a:r>
            <a:endParaRPr lang="en-US" sz="1500" dirty="0"/>
          </a:p>
          <a:p>
            <a:pPr marL="342900" indent="-342900">
              <a:spcAft>
                <a:spcPts val="800"/>
              </a:spcAft>
              <a:buSzPct val="100000"/>
              <a:buChar char="•"/>
            </a:pPr>
            <a:r>
              <a:rPr lang="en-US" sz="1500" dirty="0">
                <a:solidFill>
                  <a:srgbClr val="1B2733"/>
                </a:solidFill>
              </a:rPr>
              <a:t>Plan maliyeti:  32,5 M TL  (+%7,5)</a:t>
            </a:r>
            <a:endParaRPr lang="en-US" sz="1500" dirty="0"/>
          </a:p>
          <a:p>
            <a:pPr marL="342900" indent="-342900">
              <a:spcAft>
                <a:spcPts val="800"/>
              </a:spcAft>
              <a:buSzPct val="100000"/>
              <a:buChar char="•"/>
            </a:pPr>
            <a:r>
              <a:rPr lang="en-US" sz="1500" dirty="0">
                <a:solidFill>
                  <a:srgbClr val="1B2733"/>
                </a:solidFill>
              </a:rPr>
              <a:t>Maliyet / desi:  4,88 TL  (+%11)</a:t>
            </a:r>
            <a:endParaRPr lang="en-US" sz="1500" dirty="0"/>
          </a:p>
          <a:p>
            <a:pPr marL="342900" indent="-342900">
              <a:buSzPct val="100000"/>
              <a:buChar char="•"/>
            </a:pPr>
            <a:r>
              <a:rPr lang="en-US" sz="1500" dirty="0">
                <a:solidFill>
                  <a:srgbClr val="1B2733"/>
                </a:solidFill>
              </a:rPr>
              <a:t>WAPE avantajı std (±4 puan) içinde = gürültü</a:t>
            </a:r>
            <a:endParaRPr lang="en-US" sz="1500" dirty="0"/>
          </a:p>
        </p:txBody>
      </p:sp>
      <p:sp>
        <p:nvSpPr>
          <p:cNvPr id="10" name="Shape 8"/>
          <p:cNvSpPr/>
          <p:nvPr/>
        </p:nvSpPr>
        <p:spPr>
          <a:xfrm>
            <a:off x="548640" y="5532120"/>
            <a:ext cx="11064240" cy="868680"/>
          </a:xfrm>
          <a:prstGeom prst="roundRect">
            <a:avLst>
              <a:gd name="adj" fmla="val 8421"/>
            </a:avLst>
          </a:prstGeom>
          <a:solidFill>
            <a:srgbClr val="0B2447"/>
          </a:solidFill>
          <a:ln/>
        </p:spPr>
      </p:sp>
      <p:sp>
        <p:nvSpPr>
          <p:cNvPr id="11" name="Text 9"/>
          <p:cNvSpPr/>
          <p:nvPr/>
        </p:nvSpPr>
        <p:spPr>
          <a:xfrm>
            <a:off x="777240" y="5532120"/>
            <a:ext cx="10607040" cy="8686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Sonuç:  n=16'nın tahmin avantajı istatistiksel olarak anlamsız, ama planı %7,5 pahalılaştırıyor. İki puan da (tahmin + optimizasyon) düşünülünce n=8 net kârlı.</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Optimizasyon Motoru</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İki aşamalı, her adımda kapasiteyi denetleyen hibrit yaklaşım</a:t>
            </a:r>
            <a:endParaRPr lang="en-US" sz="1500" dirty="0"/>
          </a:p>
        </p:txBody>
      </p:sp>
      <p:sp>
        <p:nvSpPr>
          <p:cNvPr id="4" name="Shape 2"/>
          <p:cNvSpPr/>
          <p:nvPr/>
        </p:nvSpPr>
        <p:spPr>
          <a:xfrm>
            <a:off x="548640" y="1828800"/>
            <a:ext cx="5394960" cy="1965960"/>
          </a:xfrm>
          <a:prstGeom prst="roundRect">
            <a:avLst>
              <a:gd name="adj" fmla="val 3721"/>
            </a:avLst>
          </a:prstGeom>
          <a:solidFill>
            <a:srgbClr val="0B2447"/>
          </a:solidFill>
          <a:ln/>
        </p:spPr>
      </p:sp>
      <p:sp>
        <p:nvSpPr>
          <p:cNvPr id="5" name="Text 3"/>
          <p:cNvSpPr/>
          <p:nvPr/>
        </p:nvSpPr>
        <p:spPr>
          <a:xfrm>
            <a:off x="777240" y="2011680"/>
            <a:ext cx="4937760" cy="45720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Aşama 1 — Kiralık ön-atama</a:t>
            </a:r>
            <a:endParaRPr lang="en-US" sz="1700" dirty="0"/>
          </a:p>
        </p:txBody>
      </p:sp>
      <p:sp>
        <p:nvSpPr>
          <p:cNvPr id="6" name="Text 4"/>
          <p:cNvSpPr/>
          <p:nvPr/>
        </p:nvSpPr>
        <p:spPr>
          <a:xfrm>
            <a:off x="777240" y="2514600"/>
            <a:ext cx="4937760" cy="118872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Zorunlu filo her gün sabit atanır. Bir talebi kiralığa yüklemek, SLA cezasıyla birlikte spottan pahalıysa spota bırakılır.</a:t>
            </a:r>
            <a:endParaRPr lang="en-US" sz="1350" dirty="0"/>
          </a:p>
        </p:txBody>
      </p:sp>
      <p:sp>
        <p:nvSpPr>
          <p:cNvPr id="7" name="Shape 5"/>
          <p:cNvSpPr/>
          <p:nvPr/>
        </p:nvSpPr>
        <p:spPr>
          <a:xfrm>
            <a:off x="6217920" y="1828800"/>
            <a:ext cx="5394960" cy="1965960"/>
          </a:xfrm>
          <a:prstGeom prst="roundRect">
            <a:avLst>
              <a:gd name="adj" fmla="val 3721"/>
            </a:avLst>
          </a:prstGeom>
          <a:solidFill>
            <a:srgbClr val="1BA6A0"/>
          </a:solidFill>
          <a:ln/>
        </p:spPr>
      </p:sp>
      <p:sp>
        <p:nvSpPr>
          <p:cNvPr id="8" name="Text 6"/>
          <p:cNvSpPr/>
          <p:nvPr/>
        </p:nvSpPr>
        <p:spPr>
          <a:xfrm>
            <a:off x="6446520" y="2011680"/>
            <a:ext cx="493776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Aşama 2 — Fayda güdümlü spot</a:t>
            </a:r>
            <a:endParaRPr lang="en-US" sz="1700" dirty="0"/>
          </a:p>
        </p:txBody>
      </p:sp>
      <p:sp>
        <p:nvSpPr>
          <p:cNvPr id="9" name="Text 7"/>
          <p:cNvSpPr/>
          <p:nvPr/>
        </p:nvSpPr>
        <p:spPr>
          <a:xfrm>
            <a:off x="6446520" y="2514600"/>
            <a:ext cx="4937760" cy="118872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Her araç tipi için gerçek fayda = taşınan desi × birim − maliyet hesaplanır. Sabit "önce tır" yok; her seferinde en verimli araç seçilir.</a:t>
            </a:r>
            <a:endParaRPr lang="en-US" sz="1350" dirty="0"/>
          </a:p>
        </p:txBody>
      </p:sp>
      <p:sp>
        <p:nvSpPr>
          <p:cNvPr id="10" name="Shape 8"/>
          <p:cNvSpPr/>
          <p:nvPr/>
        </p:nvSpPr>
        <p:spPr>
          <a:xfrm>
            <a:off x="548640" y="4023360"/>
            <a:ext cx="11064240" cy="2057400"/>
          </a:xfrm>
          <a:prstGeom prst="roundRect">
            <a:avLst>
              <a:gd name="adj" fmla="val 3556"/>
            </a:avLst>
          </a:prstGeom>
          <a:solidFill>
            <a:srgbClr val="F4F7FA"/>
          </a:solidFill>
          <a:ln/>
        </p:spPr>
      </p:sp>
      <p:sp>
        <p:nvSpPr>
          <p:cNvPr id="11" name="Text 9"/>
          <p:cNvSpPr/>
          <p:nvPr/>
        </p:nvSpPr>
        <p:spPr>
          <a:xfrm>
            <a:off x="822960" y="4206240"/>
            <a:ext cx="10424160" cy="457200"/>
          </a:xfrm>
          <a:prstGeom prst="rect">
            <a:avLst/>
          </a:prstGeom>
          <a:noFill/>
          <a:ln/>
        </p:spPr>
        <p:txBody>
          <a:bodyPr wrap="square" rtlCol="0" anchor="ctr"/>
          <a:lstStyle/>
          <a:p>
            <a:pPr indent="0" marL="0">
              <a:buNone/>
            </a:pPr>
            <a:r>
              <a:rPr lang="en-US" sz="1700" b="1" dirty="0">
                <a:solidFill>
                  <a:srgbClr val="0B2447"/>
                </a:solidFill>
                <a:latin typeface="Calibri" pitchFamily="34" charset="0"/>
                <a:ea typeface="Calibri" pitchFamily="34" charset="-122"/>
                <a:cs typeface="Calibri" pitchFamily="34" charset="-120"/>
              </a:rPr>
              <a:t>Neden greedy, neden tam MILP değil?</a:t>
            </a:r>
            <a:endParaRPr lang="en-US" sz="1700" dirty="0"/>
          </a:p>
        </p:txBody>
      </p:sp>
      <p:sp>
        <p:nvSpPr>
          <p:cNvPr id="12" name="Text 10"/>
          <p:cNvSpPr/>
          <p:nvPr/>
        </p:nvSpPr>
        <p:spPr>
          <a:xfrm>
            <a:off x="822960" y="4663440"/>
            <a:ext cx="10515600" cy="1280160"/>
          </a:xfrm>
          <a:prstGeom prst="rect">
            <a:avLst/>
          </a:prstGeom>
          <a:noFill/>
          <a:ln/>
        </p:spPr>
        <p:txBody>
          <a:bodyPr wrap="square" rtlCol="0" anchor="ctr"/>
          <a:lstStyle/>
          <a:p>
            <a:pPr indent="0" marL="0">
              <a:buNone/>
            </a:pPr>
            <a:r>
              <a:rPr lang="en-US" sz="1400" dirty="0">
                <a:solidFill>
                  <a:srgbClr val="1B2733"/>
                </a:solidFill>
                <a:latin typeface="Calibri" pitchFamily="34" charset="0"/>
                <a:ea typeface="Calibri" pitchFamily="34" charset="-122"/>
                <a:cs typeface="Calibri" pitchFamily="34" charset="-120"/>
              </a:rPr>
              <a:t>289 güzergah × 7 gün × 2 saat × 4 araç tipi ölçeğinde tam matematiksel optimizasyonun çözüm süresi garanti edilemez. Her zaman geçerli ve kurallara uyan bir çözüm garantileyen greedy motoru kurduk; geçerliliği bağımsız checker.py ile her planda otomatik doğruluyoruz. Risk yönetimi + kanıtlanabilir doğruluk.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Mühendislik Titizliği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Detaylarda kaybedilen puanları yakaladık</a:t>
            </a:r>
            <a:endParaRPr lang="en-US" sz="1500" dirty="0"/>
          </a:p>
        </p:txBody>
      </p:sp>
      <p:sp>
        <p:nvSpPr>
          <p:cNvPr id="4" name="Shape 2"/>
          <p:cNvSpPr/>
          <p:nvPr/>
        </p:nvSpPr>
        <p:spPr>
          <a:xfrm>
            <a:off x="548640" y="1828800"/>
            <a:ext cx="5394960" cy="4023360"/>
          </a:xfrm>
          <a:prstGeom prst="roundRect">
            <a:avLst>
              <a:gd name="adj" fmla="val 1818"/>
            </a:avLst>
          </a:prstGeom>
          <a:solidFill>
            <a:srgbClr val="F4F7FA"/>
          </a:solidFill>
          <a:ln/>
        </p:spPr>
      </p:sp>
      <p:sp>
        <p:nvSpPr>
          <p:cNvPr id="5" name="Text 3"/>
          <p:cNvSpPr/>
          <p:nvPr/>
        </p:nvSpPr>
        <p:spPr>
          <a:xfrm>
            <a:off x="777240" y="2057400"/>
            <a:ext cx="4937760" cy="457200"/>
          </a:xfrm>
          <a:prstGeom prst="rect">
            <a:avLst/>
          </a:prstGeom>
          <a:noFill/>
          <a:ln/>
        </p:spPr>
        <p:txBody>
          <a:bodyPr wrap="square" rtlCol="0" anchor="ctr"/>
          <a:lstStyle/>
          <a:p>
            <a:pPr indent="0" marL="0">
              <a:buNone/>
            </a:pPr>
            <a:r>
              <a:rPr lang="en-US" sz="1700" b="1" dirty="0">
                <a:solidFill>
                  <a:srgbClr val="0B2447"/>
                </a:solidFill>
                <a:latin typeface="Calibri" pitchFamily="34" charset="0"/>
                <a:ea typeface="Calibri" pitchFamily="34" charset="-122"/>
                <a:cs typeface="Calibri" pitchFamily="34" charset="-120"/>
              </a:rPr>
              <a:t>Maliyet sütunu şişmesi — önlendi</a:t>
            </a:r>
            <a:endParaRPr lang="en-US" sz="1700" dirty="0"/>
          </a:p>
        </p:txBody>
      </p:sp>
      <p:sp>
        <p:nvSpPr>
          <p:cNvPr id="6" name="Text 4"/>
          <p:cNvSpPr/>
          <p:nvPr/>
        </p:nvSpPr>
        <p:spPr>
          <a:xfrm>
            <a:off x="777240" y="2560320"/>
            <a:ext cx="4937760" cy="1005840"/>
          </a:xfrm>
          <a:prstGeom prst="rect">
            <a:avLst/>
          </a:prstGeom>
          <a:noFill/>
          <a:ln/>
        </p:spPr>
        <p:txBody>
          <a:bodyPr wrap="square" rtlCol="0" anchor="ctr"/>
          <a:lstStyle/>
          <a:p>
            <a:pPr indent="0" marL="0">
              <a:buNone/>
            </a:pPr>
            <a:r>
              <a:rPr lang="en-US" sz="1350" dirty="0">
                <a:solidFill>
                  <a:srgbClr val="1B2733"/>
                </a:solidFill>
                <a:latin typeface="Calibri" pitchFamily="34" charset="0"/>
                <a:ea typeface="Calibri" pitchFamily="34" charset="-122"/>
                <a:cs typeface="Calibri" pitchFamily="34" charset="-120"/>
              </a:rPr>
              <a:t>Bir araç aynı bacakta çok talep taşırken maliyet her satırda tekrarlanıyordu. Sütun düz toplamı gerçeğin %171'iydi.</a:t>
            </a:r>
            <a:endParaRPr lang="en-US" sz="1350" dirty="0"/>
          </a:p>
        </p:txBody>
      </p:sp>
      <p:sp>
        <p:nvSpPr>
          <p:cNvPr id="7" name="Text 5"/>
          <p:cNvSpPr/>
          <p:nvPr/>
        </p:nvSpPr>
        <p:spPr>
          <a:xfrm>
            <a:off x="777240" y="3657600"/>
            <a:ext cx="4937760" cy="914400"/>
          </a:xfrm>
          <a:prstGeom prst="rect">
            <a:avLst/>
          </a:prstGeom>
          <a:noFill/>
          <a:ln/>
        </p:spPr>
        <p:txBody>
          <a:bodyPr wrap="square" rtlCol="0" anchor="ctr"/>
          <a:lstStyle/>
          <a:p>
            <a:pPr indent="0" marL="0">
              <a:spcAft>
                <a:spcPts val="600"/>
              </a:spcAft>
              <a:buNone/>
            </a:pPr>
            <a:r>
              <a:rPr lang="en-US" sz="1500" b="1" dirty="0">
                <a:solidFill>
                  <a:srgbClr val="B03A2E"/>
                </a:solidFill>
              </a:rPr>
              <a:t>Önce (yanlış):  49,9 M TL</a:t>
            </a:r>
            <a:endParaRPr lang="en-US" sz="1500" dirty="0"/>
          </a:p>
          <a:p>
            <a:pPr indent="0" marL="0">
              <a:buNone/>
            </a:pPr>
            <a:r>
              <a:rPr lang="en-US" sz="1500" b="1" dirty="0">
                <a:solidFill>
                  <a:srgbClr val="1BA6A0"/>
                </a:solidFill>
              </a:rPr>
              <a:t>Sonra (doğru):  29,1 M TL</a:t>
            </a:r>
            <a:endParaRPr lang="en-US" sz="1500" dirty="0"/>
          </a:p>
        </p:txBody>
      </p:sp>
      <p:sp>
        <p:nvSpPr>
          <p:cNvPr id="8" name="Text 6"/>
          <p:cNvSpPr/>
          <p:nvPr/>
        </p:nvSpPr>
        <p:spPr>
          <a:xfrm>
            <a:off x="777240" y="4800600"/>
            <a:ext cx="4937760" cy="914400"/>
          </a:xfrm>
          <a:prstGeom prst="rect">
            <a:avLst/>
          </a:prstGeom>
          <a:noFill/>
          <a:ln/>
        </p:spPr>
        <p:txBody>
          <a:bodyPr wrap="square"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Maliyet her bacakta yalnızca bir kez raporlanır → sütun toplamı gerçek filo maliyetine eşit.</a:t>
            </a:r>
            <a:endParaRPr lang="en-US" sz="1250" dirty="0"/>
          </a:p>
        </p:txBody>
      </p:sp>
      <p:sp>
        <p:nvSpPr>
          <p:cNvPr id="9" name="Shape 7"/>
          <p:cNvSpPr/>
          <p:nvPr/>
        </p:nvSpPr>
        <p:spPr>
          <a:xfrm>
            <a:off x="6217920" y="1828800"/>
            <a:ext cx="5394960" cy="4023360"/>
          </a:xfrm>
          <a:prstGeom prst="roundRect">
            <a:avLst>
              <a:gd name="adj" fmla="val 1818"/>
            </a:avLst>
          </a:prstGeom>
          <a:solidFill>
            <a:srgbClr val="0B2447"/>
          </a:solidFill>
          <a:ln/>
        </p:spPr>
      </p:sp>
      <p:sp>
        <p:nvSpPr>
          <p:cNvPr id="10" name="Text 8"/>
          <p:cNvSpPr/>
          <p:nvPr/>
        </p:nvSpPr>
        <p:spPr>
          <a:xfrm>
            <a:off x="6446520" y="2057400"/>
            <a:ext cx="4937760" cy="45720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Bağımsız doğrulayıcı — 8 kontrol</a:t>
            </a:r>
            <a:endParaRPr lang="en-US" sz="1700" dirty="0"/>
          </a:p>
        </p:txBody>
      </p:sp>
      <p:sp>
        <p:nvSpPr>
          <p:cNvPr id="11" name="Text 9"/>
          <p:cNvSpPr/>
          <p:nvPr/>
        </p:nvSpPr>
        <p:spPr>
          <a:xfrm>
            <a:off x="6446520" y="2606040"/>
            <a:ext cx="4937760" cy="3108960"/>
          </a:xfrm>
          <a:prstGeom prst="rect">
            <a:avLst/>
          </a:prstGeom>
          <a:noFill/>
          <a:ln/>
        </p:spPr>
        <p:txBody>
          <a:bodyPr wrap="square" rtlCol="0" anchor="t"/>
          <a:lstStyle/>
          <a:p>
            <a:pPr marL="342900" indent="-342900">
              <a:spcAft>
                <a:spcPts val="500"/>
              </a:spcAft>
              <a:buSzPct val="100000"/>
              <a:buChar char="•"/>
            </a:pPr>
            <a:r>
              <a:rPr lang="en-US" sz="1400" dirty="0">
                <a:solidFill>
                  <a:srgbClr val="FFFFFF"/>
                </a:solidFill>
              </a:rPr>
              <a:t>ID format uyumu</a:t>
            </a:r>
            <a:endParaRPr lang="en-US" sz="1400" dirty="0"/>
          </a:p>
          <a:p>
            <a:pPr marL="342900" indent="-342900">
              <a:spcAft>
                <a:spcPts val="500"/>
              </a:spcAft>
              <a:buSzPct val="100000"/>
              <a:buChar char="•"/>
            </a:pPr>
            <a:r>
              <a:rPr lang="en-US" sz="1400" dirty="0">
                <a:solidFill>
                  <a:srgbClr val="FFFFFF"/>
                </a:solidFill>
              </a:rPr>
              <a:t>Talep izlenebilirliği (konservasyon %100)</a:t>
            </a:r>
            <a:endParaRPr lang="en-US" sz="1400" dirty="0"/>
          </a:p>
          <a:p>
            <a:pPr marL="342900" indent="-342900">
              <a:spcAft>
                <a:spcPts val="500"/>
              </a:spcAft>
              <a:buSzPct val="100000"/>
              <a:buChar char="•"/>
            </a:pPr>
            <a:r>
              <a:rPr lang="en-US" sz="1400" dirty="0">
                <a:solidFill>
                  <a:srgbClr val="FFFFFF"/>
                </a:solidFill>
              </a:rPr>
              <a:t>Tır + elleçleme kapasitesi</a:t>
            </a:r>
            <a:endParaRPr lang="en-US" sz="1400" dirty="0"/>
          </a:p>
          <a:p>
            <a:pPr marL="342900" indent="-342900">
              <a:spcAft>
                <a:spcPts val="500"/>
              </a:spcAft>
              <a:buSzPct val="100000"/>
              <a:buChar char="•"/>
            </a:pPr>
            <a:r>
              <a:rPr lang="en-US" sz="1400" dirty="0">
                <a:solidFill>
                  <a:srgbClr val="FFFFFF"/>
                </a:solidFill>
              </a:rPr>
              <a:t>Araç kapasitesi</a:t>
            </a:r>
            <a:endParaRPr lang="en-US" sz="1400" dirty="0"/>
          </a:p>
          <a:p>
            <a:pPr marL="342900" indent="-342900">
              <a:spcAft>
                <a:spcPts val="500"/>
              </a:spcAft>
              <a:buSzPct val="100000"/>
              <a:buChar char="•"/>
            </a:pPr>
            <a:r>
              <a:rPr lang="en-US" sz="1400" dirty="0">
                <a:solidFill>
                  <a:srgbClr val="FFFFFF"/>
                </a:solidFill>
              </a:rPr>
              <a:t>SLA cezası (yeniden hesap)</a:t>
            </a:r>
            <a:endParaRPr lang="en-US" sz="1400" dirty="0"/>
          </a:p>
          <a:p>
            <a:pPr marL="342900" indent="-342900">
              <a:spcAft>
                <a:spcPts val="500"/>
              </a:spcAft>
              <a:buSzPct val="100000"/>
              <a:buChar char="•"/>
            </a:pPr>
            <a:r>
              <a:rPr lang="en-US" sz="1400" dirty="0">
                <a:solidFill>
                  <a:srgbClr val="FFFFFF"/>
                </a:solidFill>
              </a:rPr>
              <a:t>Maliyet doğruluğu</a:t>
            </a:r>
            <a:endParaRPr lang="en-US" sz="1400" dirty="0"/>
          </a:p>
          <a:p>
            <a:pPr marL="342900" indent="-342900">
              <a:buSzPct val="100000"/>
              <a:buChar char="•"/>
            </a:pPr>
            <a:r>
              <a:rPr lang="en-US" sz="1400" dirty="0">
                <a:solidFill>
                  <a:srgbClr val="FFFFFF"/>
                </a:solidFill>
              </a:rPr>
              <a:t>Kiralık filo eksiksizliği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Kural Uygunluğu</a:t>
            </a:r>
            <a:endParaRPr lang="en-US" sz="3400" dirty="0"/>
          </a:p>
        </p:txBody>
      </p:sp>
      <p:sp>
        <p:nvSpPr>
          <p:cNvPr id="3" name="Text 1"/>
          <p:cNvSpPr/>
          <p:nvPr/>
        </p:nvSpPr>
        <p:spPr>
          <a:xfrm>
            <a:off x="566928" y="1051560"/>
            <a:ext cx="1078992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Resmi şartname + 11 takımın soru-cevabı: 20/20 kural doğrulandı</a:t>
            </a:r>
            <a:endParaRPr lang="en-US" sz="1500" dirty="0"/>
          </a:p>
        </p:txBody>
      </p:sp>
      <p:sp>
        <p:nvSpPr>
          <p:cNvPr id="4" name="Shape 2"/>
          <p:cNvSpPr/>
          <p:nvPr/>
        </p:nvSpPr>
        <p:spPr>
          <a:xfrm>
            <a:off x="548640" y="1783080"/>
            <a:ext cx="274320" cy="274320"/>
          </a:xfrm>
          <a:prstGeom prst="ellipse">
            <a:avLst/>
          </a:prstGeom>
          <a:solidFill>
            <a:srgbClr val="1BA6A0"/>
          </a:solidFill>
          <a:ln/>
        </p:spPr>
      </p:sp>
      <p:sp>
        <p:nvSpPr>
          <p:cNvPr id="5" name="Text 3"/>
          <p:cNvSpPr/>
          <p:nvPr/>
        </p:nvSpPr>
        <p:spPr>
          <a:xfrm>
            <a:off x="548640"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p:nvPr/>
        </p:nvSpPr>
        <p:spPr>
          <a:xfrm>
            <a:off x="914400"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09:00 / 17:00 ayrı satırlar</a:t>
            </a:r>
            <a:endParaRPr lang="en-US" sz="1300" dirty="0"/>
          </a:p>
        </p:txBody>
      </p:sp>
      <p:sp>
        <p:nvSpPr>
          <p:cNvPr id="7" name="Shape 5"/>
          <p:cNvSpPr/>
          <p:nvPr/>
        </p:nvSpPr>
        <p:spPr>
          <a:xfrm>
            <a:off x="4261104" y="1783080"/>
            <a:ext cx="274320" cy="274320"/>
          </a:xfrm>
          <a:prstGeom prst="ellipse">
            <a:avLst/>
          </a:prstGeom>
          <a:solidFill>
            <a:srgbClr val="1BA6A0"/>
          </a:solidFill>
          <a:ln/>
        </p:spPr>
      </p:sp>
      <p:sp>
        <p:nvSpPr>
          <p:cNvPr id="8" name="Text 6"/>
          <p:cNvSpPr/>
          <p:nvPr/>
        </p:nvSpPr>
        <p:spPr>
          <a:xfrm>
            <a:off x="4261104"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4626864"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Talep ID eşleşmesi (iki dosya)</a:t>
            </a:r>
            <a:endParaRPr lang="en-US" sz="1300" dirty="0"/>
          </a:p>
        </p:txBody>
      </p:sp>
      <p:sp>
        <p:nvSpPr>
          <p:cNvPr id="10" name="Shape 8"/>
          <p:cNvSpPr/>
          <p:nvPr/>
        </p:nvSpPr>
        <p:spPr>
          <a:xfrm>
            <a:off x="7973568" y="1783080"/>
            <a:ext cx="274320" cy="274320"/>
          </a:xfrm>
          <a:prstGeom prst="ellipse">
            <a:avLst/>
          </a:prstGeom>
          <a:solidFill>
            <a:srgbClr val="1BA6A0"/>
          </a:solidFill>
          <a:ln/>
        </p:spPr>
      </p:sp>
      <p:sp>
        <p:nvSpPr>
          <p:cNvPr id="11" name="Text 9"/>
          <p:cNvSpPr/>
          <p:nvPr/>
        </p:nvSpPr>
        <p:spPr>
          <a:xfrm>
            <a:off x="7973568"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p:nvPr/>
        </p:nvSpPr>
        <p:spPr>
          <a:xfrm>
            <a:off x="8339328"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Kocaeli varışı yok (289 rota)</a:t>
            </a:r>
            <a:endParaRPr lang="en-US" sz="1300" dirty="0"/>
          </a:p>
        </p:txBody>
      </p:sp>
      <p:sp>
        <p:nvSpPr>
          <p:cNvPr id="13" name="Shape 11"/>
          <p:cNvSpPr/>
          <p:nvPr/>
        </p:nvSpPr>
        <p:spPr>
          <a:xfrm>
            <a:off x="548640" y="2350008"/>
            <a:ext cx="274320" cy="274320"/>
          </a:xfrm>
          <a:prstGeom prst="ellipse">
            <a:avLst/>
          </a:prstGeom>
          <a:solidFill>
            <a:srgbClr val="1BA6A0"/>
          </a:solidFill>
          <a:ln/>
        </p:spPr>
      </p:sp>
      <p:sp>
        <p:nvSpPr>
          <p:cNvPr id="14" name="Text 12"/>
          <p:cNvSpPr/>
          <p:nvPr/>
        </p:nvSpPr>
        <p:spPr>
          <a:xfrm>
            <a:off x="548640"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914400"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&lt;0,5 desi satırlar korundu</a:t>
            </a:r>
            <a:endParaRPr lang="en-US" sz="1300" dirty="0"/>
          </a:p>
        </p:txBody>
      </p:sp>
      <p:sp>
        <p:nvSpPr>
          <p:cNvPr id="16" name="Shape 14"/>
          <p:cNvSpPr/>
          <p:nvPr/>
        </p:nvSpPr>
        <p:spPr>
          <a:xfrm>
            <a:off x="4261104" y="2350008"/>
            <a:ext cx="274320" cy="274320"/>
          </a:xfrm>
          <a:prstGeom prst="ellipse">
            <a:avLst/>
          </a:prstGeom>
          <a:solidFill>
            <a:srgbClr val="1BA6A0"/>
          </a:solidFill>
          <a:ln/>
        </p:spPr>
      </p:sp>
      <p:sp>
        <p:nvSpPr>
          <p:cNvPr id="17" name="Text 15"/>
          <p:cNvSpPr/>
          <p:nvPr/>
        </p:nvSpPr>
        <p:spPr>
          <a:xfrm>
            <a:off x="4261104"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p:nvPr/>
        </p:nvSpPr>
        <p:spPr>
          <a:xfrm>
            <a:off x="4626864"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Dakika çözünürlük, HH:MM format</a:t>
            </a:r>
            <a:endParaRPr lang="en-US" sz="1300" dirty="0"/>
          </a:p>
        </p:txBody>
      </p:sp>
      <p:sp>
        <p:nvSpPr>
          <p:cNvPr id="19" name="Shape 17"/>
          <p:cNvSpPr/>
          <p:nvPr/>
        </p:nvSpPr>
        <p:spPr>
          <a:xfrm>
            <a:off x="7973568" y="2350008"/>
            <a:ext cx="274320" cy="274320"/>
          </a:xfrm>
          <a:prstGeom prst="ellipse">
            <a:avLst/>
          </a:prstGeom>
          <a:solidFill>
            <a:srgbClr val="1BA6A0"/>
          </a:solidFill>
          <a:ln/>
        </p:spPr>
      </p:sp>
      <p:sp>
        <p:nvSpPr>
          <p:cNvPr id="20" name="Text 18"/>
          <p:cNvSpPr/>
          <p:nvPr/>
        </p:nvSpPr>
        <p:spPr>
          <a:xfrm>
            <a:off x="7973568"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p:cNvSpPr/>
          <p:nvPr/>
        </p:nvSpPr>
        <p:spPr>
          <a:xfrm>
            <a:off x="8339328"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Gün-aşırı oransal elleçleme</a:t>
            </a:r>
            <a:endParaRPr lang="en-US" sz="1300" dirty="0"/>
          </a:p>
        </p:txBody>
      </p:sp>
      <p:sp>
        <p:nvSpPr>
          <p:cNvPr id="22" name="Shape 20"/>
          <p:cNvSpPr/>
          <p:nvPr/>
        </p:nvSpPr>
        <p:spPr>
          <a:xfrm>
            <a:off x="548640" y="2916936"/>
            <a:ext cx="274320" cy="274320"/>
          </a:xfrm>
          <a:prstGeom prst="ellipse">
            <a:avLst/>
          </a:prstGeom>
          <a:solidFill>
            <a:srgbClr val="1BA6A0"/>
          </a:solidFill>
          <a:ln/>
        </p:spPr>
      </p:sp>
      <p:sp>
        <p:nvSpPr>
          <p:cNvPr id="23" name="Text 21"/>
          <p:cNvSpPr/>
          <p:nvPr/>
        </p:nvSpPr>
        <p:spPr>
          <a:xfrm>
            <a:off x="548640"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2"/>
          <p:cNvSpPr/>
          <p:nvPr/>
        </p:nvSpPr>
        <p:spPr>
          <a:xfrm>
            <a:off x="914400"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Tır kapasitesi (kiralık dahil)</a:t>
            </a:r>
            <a:endParaRPr lang="en-US" sz="1300" dirty="0"/>
          </a:p>
        </p:txBody>
      </p:sp>
      <p:sp>
        <p:nvSpPr>
          <p:cNvPr id="25" name="Shape 23"/>
          <p:cNvSpPr/>
          <p:nvPr/>
        </p:nvSpPr>
        <p:spPr>
          <a:xfrm>
            <a:off x="4261104" y="2916936"/>
            <a:ext cx="274320" cy="274320"/>
          </a:xfrm>
          <a:prstGeom prst="ellipse">
            <a:avLst/>
          </a:prstGeom>
          <a:solidFill>
            <a:srgbClr val="1BA6A0"/>
          </a:solidFill>
          <a:ln/>
        </p:spPr>
      </p:sp>
      <p:sp>
        <p:nvSpPr>
          <p:cNvPr id="26" name="Text 24"/>
          <p:cNvSpPr/>
          <p:nvPr/>
        </p:nvSpPr>
        <p:spPr>
          <a:xfrm>
            <a:off x="4261104"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4626864"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Kullanım süresi = elleçleme+yol</a:t>
            </a:r>
            <a:endParaRPr lang="en-US" sz="1300" dirty="0"/>
          </a:p>
        </p:txBody>
      </p:sp>
      <p:sp>
        <p:nvSpPr>
          <p:cNvPr id="28" name="Shape 26"/>
          <p:cNvSpPr/>
          <p:nvPr/>
        </p:nvSpPr>
        <p:spPr>
          <a:xfrm>
            <a:off x="7973568" y="2916936"/>
            <a:ext cx="274320" cy="274320"/>
          </a:xfrm>
          <a:prstGeom prst="ellipse">
            <a:avLst/>
          </a:prstGeom>
          <a:solidFill>
            <a:srgbClr val="1BA6A0"/>
          </a:solidFill>
          <a:ln/>
        </p:spPr>
      </p:sp>
      <p:sp>
        <p:nvSpPr>
          <p:cNvPr id="29" name="Text 27"/>
          <p:cNvSpPr/>
          <p:nvPr/>
        </p:nvSpPr>
        <p:spPr>
          <a:xfrm>
            <a:off x="7973568"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8339328"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SLA: 1 dk gecikme → 1 saat ceza</a:t>
            </a:r>
            <a:endParaRPr lang="en-US" sz="1300" dirty="0"/>
          </a:p>
        </p:txBody>
      </p:sp>
      <p:sp>
        <p:nvSpPr>
          <p:cNvPr id="31" name="Shape 29"/>
          <p:cNvSpPr/>
          <p:nvPr/>
        </p:nvSpPr>
        <p:spPr>
          <a:xfrm>
            <a:off x="548640" y="3483864"/>
            <a:ext cx="274320" cy="274320"/>
          </a:xfrm>
          <a:prstGeom prst="ellipse">
            <a:avLst/>
          </a:prstGeom>
          <a:solidFill>
            <a:srgbClr val="1BA6A0"/>
          </a:solidFill>
          <a:ln/>
        </p:spPr>
      </p:sp>
      <p:sp>
        <p:nvSpPr>
          <p:cNvPr id="32" name="Text 30"/>
          <p:cNvSpPr/>
          <p:nvPr/>
        </p:nvSpPr>
        <p:spPr>
          <a:xfrm>
            <a:off x="548640"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914400"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Min doluluk kuralı yok</a:t>
            </a:r>
            <a:endParaRPr lang="en-US" sz="1300" dirty="0"/>
          </a:p>
        </p:txBody>
      </p:sp>
      <p:sp>
        <p:nvSpPr>
          <p:cNvPr id="34" name="Shape 32"/>
          <p:cNvSpPr/>
          <p:nvPr/>
        </p:nvSpPr>
        <p:spPr>
          <a:xfrm>
            <a:off x="4261104" y="3483864"/>
            <a:ext cx="274320" cy="274320"/>
          </a:xfrm>
          <a:prstGeom prst="ellipse">
            <a:avLst/>
          </a:prstGeom>
          <a:solidFill>
            <a:srgbClr val="1BA6A0"/>
          </a:solidFill>
          <a:ln/>
        </p:spPr>
      </p:sp>
      <p:sp>
        <p:nvSpPr>
          <p:cNvPr id="35" name="Text 33"/>
          <p:cNvSpPr/>
          <p:nvPr/>
        </p:nvSpPr>
        <p:spPr>
          <a:xfrm>
            <a:off x="4261104"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4626864"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Araç kapasitesi 0 ihlal</a:t>
            </a:r>
            <a:endParaRPr lang="en-US" sz="1300" dirty="0"/>
          </a:p>
        </p:txBody>
      </p:sp>
      <p:sp>
        <p:nvSpPr>
          <p:cNvPr id="37" name="Shape 35"/>
          <p:cNvSpPr/>
          <p:nvPr/>
        </p:nvSpPr>
        <p:spPr>
          <a:xfrm>
            <a:off x="7973568" y="3483864"/>
            <a:ext cx="274320" cy="274320"/>
          </a:xfrm>
          <a:prstGeom prst="ellipse">
            <a:avLst/>
          </a:prstGeom>
          <a:solidFill>
            <a:srgbClr val="1BA6A0"/>
          </a:solidFill>
          <a:ln/>
        </p:spPr>
      </p:sp>
      <p:sp>
        <p:nvSpPr>
          <p:cNvPr id="38" name="Text 36"/>
          <p:cNvSpPr/>
          <p:nvPr/>
        </p:nvSpPr>
        <p:spPr>
          <a:xfrm>
            <a:off x="7973568"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8339328"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Kolon formatı şablonla birebir</a:t>
            </a:r>
            <a:endParaRPr lang="en-US" sz="1300" dirty="0"/>
          </a:p>
        </p:txBody>
      </p:sp>
      <p:sp>
        <p:nvSpPr>
          <p:cNvPr id="40" name="Shape 38"/>
          <p:cNvSpPr/>
          <p:nvPr/>
        </p:nvSpPr>
        <p:spPr>
          <a:xfrm>
            <a:off x="548640" y="5029200"/>
            <a:ext cx="11064240" cy="1097280"/>
          </a:xfrm>
          <a:prstGeom prst="roundRect">
            <a:avLst>
              <a:gd name="adj" fmla="val 6667"/>
            </a:avLst>
          </a:prstGeom>
          <a:solidFill>
            <a:srgbClr val="E9B949"/>
          </a:solidFill>
          <a:ln/>
        </p:spPr>
      </p:sp>
      <p:sp>
        <p:nvSpPr>
          <p:cNvPr id="41" name="Text 39"/>
          <p:cNvSpPr/>
          <p:nvPr/>
        </p:nvSpPr>
        <p:spPr>
          <a:xfrm>
            <a:off x="822960" y="5029200"/>
            <a:ext cx="10515600" cy="109728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Format = elenme kriteri.  Her iki çıktı dosyasının kolonları resmi şablonla birebir aynı — format tarafında elenme riskimiz yok.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2447"/>
        </a:solidFill>
      </p:bgPr>
    </p:bg>
    <p:spTree>
      <p:nvGrpSpPr>
        <p:cNvPr id="1" name=""/>
        <p:cNvGrpSpPr/>
        <p:nvPr/>
      </p:nvGrpSpPr>
      <p:grpSpPr>
        <a:xfrm>
          <a:off x="0" y="0"/>
          <a:ext cx="0" cy="0"/>
          <a:chOff x="0" y="0"/>
          <a:chExt cx="0" cy="0"/>
        </a:xfrm>
      </p:grpSpPr>
      <p:sp>
        <p:nvSpPr>
          <p:cNvPr id="2" name="Shape 0"/>
          <p:cNvSpPr/>
          <p:nvPr/>
        </p:nvSpPr>
        <p:spPr>
          <a:xfrm>
            <a:off x="10332720" y="-1280160"/>
            <a:ext cx="3657600" cy="3657600"/>
          </a:xfrm>
          <a:prstGeom prst="ellipse">
            <a:avLst/>
          </a:prstGeom>
          <a:solidFill>
            <a:srgbClr val="132F52"/>
          </a:solidFill>
          <a:ln/>
        </p:spPr>
      </p:sp>
      <p:sp>
        <p:nvSpPr>
          <p:cNvPr id="3" name="Text 1"/>
          <p:cNvSpPr/>
          <p:nvPr/>
        </p:nvSpPr>
        <p:spPr>
          <a:xfrm>
            <a:off x="640080" y="502920"/>
            <a:ext cx="91440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Final Sonuçlar</a:t>
            </a:r>
            <a:endParaRPr lang="en-US" sz="3600" dirty="0"/>
          </a:p>
        </p:txBody>
      </p:sp>
      <p:sp>
        <p:nvSpPr>
          <p:cNvPr id="4" name="Text 2"/>
          <p:cNvSpPr/>
          <p:nvPr/>
        </p:nvSpPr>
        <p:spPr>
          <a:xfrm>
            <a:off x="640080" y="1600200"/>
            <a:ext cx="3657600" cy="822960"/>
          </a:xfrm>
          <a:prstGeom prst="rect">
            <a:avLst/>
          </a:prstGeom>
          <a:noFill/>
          <a:ln/>
        </p:spPr>
        <p:txBody>
          <a:bodyPr wrap="square" rtlCol="0" anchor="ctr"/>
          <a:lstStyle/>
          <a:p>
            <a:pPr indent="0" marL="0">
              <a:buNone/>
            </a:pPr>
            <a:r>
              <a:rPr lang="en-US" sz="4000" b="1" dirty="0">
                <a:solidFill>
                  <a:srgbClr val="1BA6A0"/>
                </a:solidFill>
                <a:latin typeface="Cambria" pitchFamily="34" charset="0"/>
                <a:ea typeface="Cambria" pitchFamily="34" charset="-122"/>
                <a:cs typeface="Cambria" pitchFamily="34" charset="-120"/>
              </a:rPr>
              <a:t>21,74 M TL</a:t>
            </a:r>
            <a:endParaRPr lang="en-US" sz="4000" dirty="0"/>
          </a:p>
        </p:txBody>
      </p:sp>
      <p:sp>
        <p:nvSpPr>
          <p:cNvPr id="5" name="Text 3"/>
          <p:cNvSpPr/>
          <p:nvPr/>
        </p:nvSpPr>
        <p:spPr>
          <a:xfrm>
            <a:off x="66751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Toplam maliyet</a:t>
            </a:r>
            <a:endParaRPr lang="en-US" sz="1400" dirty="0"/>
          </a:p>
        </p:txBody>
      </p:sp>
      <p:sp>
        <p:nvSpPr>
          <p:cNvPr id="6" name="Text 4"/>
          <p:cNvSpPr/>
          <p:nvPr/>
        </p:nvSpPr>
        <p:spPr>
          <a:xfrm>
            <a:off x="4389120" y="1600200"/>
            <a:ext cx="3657600" cy="822960"/>
          </a:xfrm>
          <a:prstGeom prst="rect">
            <a:avLst/>
          </a:prstGeom>
          <a:noFill/>
          <a:ln/>
        </p:spPr>
        <p:txBody>
          <a:bodyPr wrap="square" rtlCol="0" anchor="ctr"/>
          <a:lstStyle/>
          <a:p>
            <a:pPr indent="0" marL="0">
              <a:buNone/>
            </a:pPr>
            <a:r>
              <a:rPr lang="en-US" sz="4000" b="1" dirty="0">
                <a:solidFill>
                  <a:srgbClr val="2BB3D9"/>
                </a:solidFill>
                <a:latin typeface="Cambria" pitchFamily="34" charset="0"/>
                <a:ea typeface="Cambria" pitchFamily="34" charset="-122"/>
                <a:cs typeface="Cambria" pitchFamily="34" charset="-120"/>
              </a:rPr>
              <a:t>20,55 M</a:t>
            </a:r>
            <a:endParaRPr lang="en-US" sz="4000" dirty="0"/>
          </a:p>
        </p:txBody>
      </p:sp>
      <p:sp>
        <p:nvSpPr>
          <p:cNvPr id="7" name="Text 5"/>
          <p:cNvSpPr/>
          <p:nvPr/>
        </p:nvSpPr>
        <p:spPr>
          <a:xfrm>
            <a:off x="441655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Araç maliyeti (TL)</a:t>
            </a:r>
            <a:endParaRPr lang="en-US" sz="1400" dirty="0"/>
          </a:p>
        </p:txBody>
      </p:sp>
      <p:sp>
        <p:nvSpPr>
          <p:cNvPr id="8" name="Text 6"/>
          <p:cNvSpPr/>
          <p:nvPr/>
        </p:nvSpPr>
        <p:spPr>
          <a:xfrm>
            <a:off x="8138160" y="1600200"/>
            <a:ext cx="3657600" cy="822960"/>
          </a:xfrm>
          <a:prstGeom prst="rect">
            <a:avLst/>
          </a:prstGeom>
          <a:noFill/>
          <a:ln/>
        </p:spPr>
        <p:txBody>
          <a:bodyPr wrap="square" rtlCol="0" anchor="ctr"/>
          <a:lstStyle/>
          <a:p>
            <a:pPr indent="0" marL="0">
              <a:buNone/>
            </a:pPr>
            <a:r>
              <a:rPr lang="en-US" sz="4000" b="1" dirty="0">
                <a:solidFill>
                  <a:srgbClr val="A5D7E8"/>
                </a:solidFill>
                <a:latin typeface="Cambria" pitchFamily="34" charset="0"/>
                <a:ea typeface="Cambria" pitchFamily="34" charset="-122"/>
                <a:cs typeface="Cambria" pitchFamily="34" charset="-120"/>
              </a:rPr>
              <a:t>1,19 M</a:t>
            </a:r>
            <a:endParaRPr lang="en-US" sz="4000" dirty="0"/>
          </a:p>
        </p:txBody>
      </p:sp>
      <p:sp>
        <p:nvSpPr>
          <p:cNvPr id="9" name="Text 7"/>
          <p:cNvSpPr/>
          <p:nvPr/>
        </p:nvSpPr>
        <p:spPr>
          <a:xfrm>
            <a:off x="816559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SLA cezası (TL)</a:t>
            </a:r>
            <a:endParaRPr lang="en-US" sz="1400" dirty="0"/>
          </a:p>
        </p:txBody>
      </p:sp>
      <p:sp>
        <p:nvSpPr>
          <p:cNvPr id="10" name="Text 8"/>
          <p:cNvSpPr/>
          <p:nvPr/>
        </p:nvSpPr>
        <p:spPr>
          <a:xfrm>
            <a:off x="640080" y="3383280"/>
            <a:ext cx="3657600" cy="822960"/>
          </a:xfrm>
          <a:prstGeom prst="rect">
            <a:avLst/>
          </a:prstGeom>
          <a:noFill/>
          <a:ln/>
        </p:spPr>
        <p:txBody>
          <a:bodyPr wrap="square" rtlCol="0" anchor="ctr"/>
          <a:lstStyle/>
          <a:p>
            <a:pPr indent="0" marL="0">
              <a:buNone/>
            </a:pPr>
            <a:r>
              <a:rPr lang="en-US" sz="4000" b="1" dirty="0">
                <a:solidFill>
                  <a:srgbClr val="2BB3D9"/>
                </a:solidFill>
                <a:latin typeface="Cambria" pitchFamily="34" charset="0"/>
                <a:ea typeface="Cambria" pitchFamily="34" charset="-122"/>
                <a:cs typeface="Cambria" pitchFamily="34" charset="-120"/>
              </a:rPr>
              <a:t>1.594</a:t>
            </a:r>
            <a:endParaRPr lang="en-US" sz="4000" dirty="0"/>
          </a:p>
        </p:txBody>
      </p:sp>
      <p:sp>
        <p:nvSpPr>
          <p:cNvPr id="11" name="Text 9"/>
          <p:cNvSpPr/>
          <p:nvPr/>
        </p:nvSpPr>
        <p:spPr>
          <a:xfrm>
            <a:off x="66751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Araç sayısı</a:t>
            </a:r>
            <a:endParaRPr lang="en-US" sz="1400" dirty="0"/>
          </a:p>
        </p:txBody>
      </p:sp>
      <p:sp>
        <p:nvSpPr>
          <p:cNvPr id="12" name="Text 10"/>
          <p:cNvSpPr/>
          <p:nvPr/>
        </p:nvSpPr>
        <p:spPr>
          <a:xfrm>
            <a:off x="4389120" y="3383280"/>
            <a:ext cx="3657600" cy="822960"/>
          </a:xfrm>
          <a:prstGeom prst="rect">
            <a:avLst/>
          </a:prstGeom>
          <a:noFill/>
          <a:ln/>
        </p:spPr>
        <p:txBody>
          <a:bodyPr wrap="square" rtlCol="0" anchor="ctr"/>
          <a:lstStyle/>
          <a:p>
            <a:pPr indent="0" marL="0">
              <a:buNone/>
            </a:pPr>
            <a:r>
              <a:rPr lang="en-US" sz="4000" b="1" dirty="0">
                <a:solidFill>
                  <a:srgbClr val="1BA6A0"/>
                </a:solidFill>
                <a:latin typeface="Cambria" pitchFamily="34" charset="0"/>
                <a:ea typeface="Cambria" pitchFamily="34" charset="-122"/>
                <a:cs typeface="Cambria" pitchFamily="34" charset="-120"/>
              </a:rPr>
              <a:t>30 / 30</a:t>
            </a:r>
            <a:endParaRPr lang="en-US" sz="4000" dirty="0"/>
          </a:p>
        </p:txBody>
      </p:sp>
      <p:sp>
        <p:nvSpPr>
          <p:cNvPr id="13" name="Text 11"/>
          <p:cNvSpPr/>
          <p:nvPr/>
        </p:nvSpPr>
        <p:spPr>
          <a:xfrm>
            <a:off x="441655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Test PASS</a:t>
            </a:r>
            <a:endParaRPr lang="en-US" sz="1400" dirty="0"/>
          </a:p>
        </p:txBody>
      </p:sp>
      <p:sp>
        <p:nvSpPr>
          <p:cNvPr id="14" name="Text 12"/>
          <p:cNvSpPr/>
          <p:nvPr/>
        </p:nvSpPr>
        <p:spPr>
          <a:xfrm>
            <a:off x="8138160" y="3383280"/>
            <a:ext cx="3657600" cy="822960"/>
          </a:xfrm>
          <a:prstGeom prst="rect">
            <a:avLst/>
          </a:prstGeom>
          <a:noFill/>
          <a:ln/>
        </p:spPr>
        <p:txBody>
          <a:bodyPr wrap="square" rtlCol="0" anchor="ctr"/>
          <a:lstStyle/>
          <a:p>
            <a:pPr indent="0" marL="0">
              <a:buNone/>
            </a:pPr>
            <a:r>
              <a:rPr lang="en-US" sz="4000" b="1" dirty="0">
                <a:solidFill>
                  <a:srgbClr val="E9B949"/>
                </a:solidFill>
                <a:latin typeface="Cambria" pitchFamily="34" charset="0"/>
                <a:ea typeface="Cambria" pitchFamily="34" charset="-122"/>
                <a:cs typeface="Cambria" pitchFamily="34" charset="-120"/>
              </a:rPr>
              <a:t>PASS</a:t>
            </a:r>
            <a:endParaRPr lang="en-US" sz="4000" dirty="0"/>
          </a:p>
        </p:txBody>
      </p:sp>
      <p:sp>
        <p:nvSpPr>
          <p:cNvPr id="15" name="Text 13"/>
          <p:cNvSpPr/>
          <p:nvPr/>
        </p:nvSpPr>
        <p:spPr>
          <a:xfrm>
            <a:off x="816559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Checker (0 hata)</a:t>
            </a:r>
            <a:endParaRPr lang="en-US" sz="1400" dirty="0"/>
          </a:p>
        </p:txBody>
      </p:sp>
      <p:sp>
        <p:nvSpPr>
          <p:cNvPr id="16" name="Shape 14"/>
          <p:cNvSpPr/>
          <p:nvPr/>
        </p:nvSpPr>
        <p:spPr>
          <a:xfrm>
            <a:off x="640080" y="5074920"/>
            <a:ext cx="10881360" cy="1143000"/>
          </a:xfrm>
          <a:prstGeom prst="roundRect">
            <a:avLst>
              <a:gd name="adj" fmla="val 6400"/>
            </a:avLst>
          </a:prstGeom>
          <a:solidFill>
            <a:srgbClr val="1BA6A0"/>
          </a:solidFill>
          <a:ln/>
        </p:spPr>
      </p:sp>
      <p:sp>
        <p:nvSpPr>
          <p:cNvPr id="17" name="Text 15"/>
          <p:cNvSpPr/>
          <p:nvPr/>
        </p:nvSpPr>
        <p:spPr>
          <a:xfrm>
            <a:off x="914400" y="5074920"/>
            <a:ext cx="10424160" cy="114300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Konsolidasyonla toplam maliyet 29,84M → 21,74M TL (−%27,1).  Saat birleştirme + milk-run, checker-korumalı.  Talep %100 taşınıyor, sıfır ihlal.</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447"/>
        </a:solidFill>
      </p:bgPr>
    </p:bg>
    <p:spTree>
      <p:nvGrpSpPr>
        <p:cNvPr id="1" name=""/>
        <p:cNvGrpSpPr/>
        <p:nvPr/>
      </p:nvGrpSpPr>
      <p:grpSpPr>
        <a:xfrm>
          <a:off x="0" y="0"/>
          <a:ext cx="0" cy="0"/>
          <a:chOff x="0" y="0"/>
          <a:chExt cx="0" cy="0"/>
        </a:xfrm>
      </p:grpSpPr>
      <p:sp>
        <p:nvSpPr>
          <p:cNvPr id="2" name="Text 0"/>
          <p:cNvSpPr/>
          <p:nvPr/>
        </p:nvSpPr>
        <p:spPr>
          <a:xfrm>
            <a:off x="64008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Jüriye Hazır Cevaplar</a:t>
            </a:r>
            <a:endParaRPr lang="en-US" sz="3200" dirty="0"/>
          </a:p>
        </p:txBody>
      </p:sp>
      <p:sp>
        <p:nvSpPr>
          <p:cNvPr id="3" name="Shape 1"/>
          <p:cNvSpPr/>
          <p:nvPr/>
        </p:nvSpPr>
        <p:spPr>
          <a:xfrm>
            <a:off x="640080" y="1554480"/>
            <a:ext cx="457200" cy="457200"/>
          </a:xfrm>
          <a:prstGeom prst="ellipse">
            <a:avLst/>
          </a:prstGeom>
          <a:solidFill>
            <a:srgbClr val="1BA6A0"/>
          </a:solidFill>
          <a:ln/>
        </p:spPr>
      </p:sp>
      <p:sp>
        <p:nvSpPr>
          <p:cNvPr id="4" name="Text 2"/>
          <p:cNvSpPr/>
          <p:nvPr/>
        </p:nvSpPr>
        <p:spPr>
          <a:xfrm>
            <a:off x="640080" y="15544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5" name="Text 3"/>
          <p:cNvSpPr/>
          <p:nvPr/>
        </p:nvSpPr>
        <p:spPr>
          <a:xfrm>
            <a:off x="1280160" y="15087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Neden greedy, tam MILP değil?</a:t>
            </a:r>
            <a:endParaRPr lang="en-US" sz="1700" dirty="0"/>
          </a:p>
        </p:txBody>
      </p:sp>
      <p:sp>
        <p:nvSpPr>
          <p:cNvPr id="6" name="Text 4"/>
          <p:cNvSpPr/>
          <p:nvPr/>
        </p:nvSpPr>
        <p:spPr>
          <a:xfrm>
            <a:off x="1280160" y="19202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Ölçekte çözüm süresi garanti edilemez; her zaman geçerli çözüm + bağımsız checker ile kanıtlanabilir doğruluk.</a:t>
            </a:r>
            <a:endParaRPr lang="en-US" sz="1400" dirty="0"/>
          </a:p>
        </p:txBody>
      </p:sp>
      <p:sp>
        <p:nvSpPr>
          <p:cNvPr id="7" name="Shape 5"/>
          <p:cNvSpPr/>
          <p:nvPr/>
        </p:nvSpPr>
        <p:spPr>
          <a:xfrm>
            <a:off x="640080" y="2926080"/>
            <a:ext cx="457200" cy="457200"/>
          </a:xfrm>
          <a:prstGeom prst="ellipse">
            <a:avLst/>
          </a:prstGeom>
          <a:solidFill>
            <a:srgbClr val="1BA6A0"/>
          </a:solidFill>
          <a:ln/>
        </p:spPr>
      </p:sp>
      <p:sp>
        <p:nvSpPr>
          <p:cNvPr id="8" name="Text 6"/>
          <p:cNvSpPr/>
          <p:nvPr/>
        </p:nvSpPr>
        <p:spPr>
          <a:xfrm>
            <a:off x="640080" y="29260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9" name="Text 7"/>
          <p:cNvSpPr/>
          <p:nvPr/>
        </p:nvSpPr>
        <p:spPr>
          <a:xfrm>
            <a:off x="1280160" y="28803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Tahmininiz ne kadar isabetli?</a:t>
            </a:r>
            <a:endParaRPr lang="en-US" sz="1700" dirty="0"/>
          </a:p>
        </p:txBody>
      </p:sp>
      <p:sp>
        <p:nvSpPr>
          <p:cNvPr id="10" name="Text 8"/>
          <p:cNvSpPr/>
          <p:nvPr/>
        </p:nvSpPr>
        <p:spPr>
          <a:xfrm>
            <a:off x="1280160" y="32918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Leakage'sız backtest ile WAPE ~%24; basit ortalama ve ML ile aynı/daha iyi, dürüst ölçüm.</a:t>
            </a:r>
            <a:endParaRPr lang="en-US" sz="1400" dirty="0"/>
          </a:p>
        </p:txBody>
      </p:sp>
      <p:sp>
        <p:nvSpPr>
          <p:cNvPr id="11" name="Shape 9"/>
          <p:cNvSpPr/>
          <p:nvPr/>
        </p:nvSpPr>
        <p:spPr>
          <a:xfrm>
            <a:off x="640080" y="4297680"/>
            <a:ext cx="457200" cy="457200"/>
          </a:xfrm>
          <a:prstGeom prst="ellipse">
            <a:avLst/>
          </a:prstGeom>
          <a:solidFill>
            <a:srgbClr val="1BA6A0"/>
          </a:solidFill>
          <a:ln/>
        </p:spPr>
      </p:sp>
      <p:sp>
        <p:nvSpPr>
          <p:cNvPr id="12" name="Text 10"/>
          <p:cNvSpPr/>
          <p:nvPr/>
        </p:nvSpPr>
        <p:spPr>
          <a:xfrm>
            <a:off x="640080" y="42976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13" name="Text 11"/>
          <p:cNvSpPr/>
          <p:nvPr/>
        </p:nvSpPr>
        <p:spPr>
          <a:xfrm>
            <a:off x="1280160" y="42519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Maliyet sütununu neden böyle doldurdunuz?</a:t>
            </a:r>
            <a:endParaRPr lang="en-US" sz="1700" dirty="0"/>
          </a:p>
        </p:txBody>
      </p:sp>
      <p:sp>
        <p:nvSpPr>
          <p:cNvPr id="14" name="Text 12"/>
          <p:cNvSpPr/>
          <p:nvPr/>
        </p:nvSpPr>
        <p:spPr>
          <a:xfrm>
            <a:off x="1280160" y="46634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Çift sayımı önlemek için maliyet bacak başına bir kez; sütun toplamı gerçek filo maliyetine eşit.</a:t>
            </a:r>
            <a:endParaRPr lang="en-US" sz="1400" dirty="0"/>
          </a:p>
        </p:txBody>
      </p:sp>
      <p:sp>
        <p:nvSpPr>
          <p:cNvPr id="15" name="Text 13"/>
          <p:cNvSpPr/>
          <p:nvPr/>
        </p:nvSpPr>
        <p:spPr>
          <a:xfrm>
            <a:off x="640080" y="6126480"/>
            <a:ext cx="10881360" cy="457200"/>
          </a:xfrm>
          <a:prstGeom prst="rect">
            <a:avLst/>
          </a:prstGeom>
          <a:noFill/>
          <a:ln/>
        </p:spPr>
        <p:txBody>
          <a:bodyPr wrap="square" rtlCol="0" anchor="ctr"/>
          <a:lstStyle/>
          <a:p>
            <a:pPr algn="ctr" indent="0" marL="0">
              <a:buNone/>
            </a:pPr>
            <a:r>
              <a:rPr lang="en-US" sz="1400" i="1" dirty="0">
                <a:solidFill>
                  <a:srgbClr val="5A6B7B"/>
                </a:solidFill>
                <a:latin typeface="Calibri" pitchFamily="34" charset="0"/>
                <a:ea typeface="Calibri" pitchFamily="34" charset="-122"/>
                <a:cs typeface="Calibri" pitchFamily="34" charset="-120"/>
              </a:rPr>
              <a:t>Takım NASİP · TEKNOFEST 2026 · LoadIQ</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2026-07-24T16:03:07Z</dcterms:created>
  <dcterms:modified xsi:type="dcterms:W3CDTF">2026-07-24T16:03:07Z</dcterms:modified>
</cp:coreProperties>
</file>